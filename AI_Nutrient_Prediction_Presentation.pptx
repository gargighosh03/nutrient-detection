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7" r:id="rId4"/>
    <p:sldId id="260" r:id="rId5"/>
    <p:sldId id="261" r:id="rId6"/>
    <p:sldId id="268" r:id="rId7"/>
    <p:sldId id="263" r:id="rId8"/>
    <p:sldId id="265" r:id="rId9"/>
    <p:sldId id="266"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59" autoAdjust="0"/>
    <p:restoredTop sz="94660"/>
  </p:normalViewPr>
  <p:slideViewPr>
    <p:cSldViewPr snapToGrid="0" snapToObjects="1">
      <p:cViewPr varScale="1">
        <p:scale>
          <a:sx n="62" d="100"/>
          <a:sy n="62" d="100"/>
        </p:scale>
        <p:origin x="132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65272A-365F-4788-B809-CBA72AEC7C13}" type="doc">
      <dgm:prSet loTypeId="urn:microsoft.com/office/officeart/2005/8/layout/hProcess9" loCatId="process" qsTypeId="urn:microsoft.com/office/officeart/2005/8/quickstyle/3d3" qsCatId="3D" csTypeId="urn:microsoft.com/office/officeart/2005/8/colors/accent5_4" csCatId="accent5" phldr="1"/>
      <dgm:spPr/>
      <dgm:t>
        <a:bodyPr/>
        <a:lstStyle/>
        <a:p>
          <a:endParaRPr lang="en-US"/>
        </a:p>
      </dgm:t>
    </dgm:pt>
    <dgm:pt modelId="{E8A1C908-C82A-48E4-AF5E-27B6D1E4F0F1}">
      <dgm:prSet phldrT="[Text]"/>
      <dgm:spPr/>
      <dgm:t>
        <a:bodyPr/>
        <a:lstStyle/>
        <a:p>
          <a:pPr>
            <a:buNone/>
          </a:pPr>
          <a:r>
            <a:rPr lang="en-US" b="0" i="0" dirty="0"/>
            <a:t>Traditional Nutrition Labels</a:t>
          </a:r>
          <a:endParaRPr lang="en-US" dirty="0"/>
        </a:p>
      </dgm:t>
    </dgm:pt>
    <dgm:pt modelId="{2F21F539-B84C-4956-B1CF-51795FBB05C0}" type="parTrans" cxnId="{9ECD1984-F5C9-466F-95BF-B5639B477EED}">
      <dgm:prSet/>
      <dgm:spPr/>
      <dgm:t>
        <a:bodyPr/>
        <a:lstStyle/>
        <a:p>
          <a:endParaRPr lang="en-US"/>
        </a:p>
      </dgm:t>
    </dgm:pt>
    <dgm:pt modelId="{433EDBB0-E8DF-48D1-90B2-89C863ADD04D}" type="sibTrans" cxnId="{9ECD1984-F5C9-466F-95BF-B5639B477EED}">
      <dgm:prSet/>
      <dgm:spPr/>
      <dgm:t>
        <a:bodyPr/>
        <a:lstStyle/>
        <a:p>
          <a:endParaRPr lang="en-US"/>
        </a:p>
      </dgm:t>
    </dgm:pt>
    <dgm:pt modelId="{F2248261-408C-4C88-93A6-89CB6AB840B5}">
      <dgm:prSet phldrT="[Text]"/>
      <dgm:spPr/>
      <dgm:t>
        <a:bodyPr/>
        <a:lstStyle/>
        <a:p>
          <a:pPr>
            <a:buNone/>
          </a:pPr>
          <a:r>
            <a:rPr lang="en-US" b="0" i="0" dirty="0"/>
            <a:t>Image-Based Food Recognition</a:t>
          </a:r>
          <a:endParaRPr lang="en-US" dirty="0"/>
        </a:p>
      </dgm:t>
    </dgm:pt>
    <dgm:pt modelId="{C83B163C-EA58-4CE4-856B-9AB15FACFFEE}" type="parTrans" cxnId="{12AA098E-E0B4-45D0-BAD9-57888A462898}">
      <dgm:prSet/>
      <dgm:spPr/>
      <dgm:t>
        <a:bodyPr/>
        <a:lstStyle/>
        <a:p>
          <a:endParaRPr lang="en-US"/>
        </a:p>
      </dgm:t>
    </dgm:pt>
    <dgm:pt modelId="{D7E773DF-00BC-4B1C-8521-20B700357A70}" type="sibTrans" cxnId="{12AA098E-E0B4-45D0-BAD9-57888A462898}">
      <dgm:prSet/>
      <dgm:spPr/>
      <dgm:t>
        <a:bodyPr/>
        <a:lstStyle/>
        <a:p>
          <a:endParaRPr lang="en-US"/>
        </a:p>
      </dgm:t>
    </dgm:pt>
    <dgm:pt modelId="{D9374B46-CE34-4F71-BF1E-C01FC4E05C8C}">
      <dgm:prSet phldrT="[Text]"/>
      <dgm:spPr/>
      <dgm:t>
        <a:bodyPr/>
        <a:lstStyle/>
        <a:p>
          <a:pPr>
            <a:buNone/>
          </a:pPr>
          <a:r>
            <a:rPr lang="en-US" b="0" i="0" dirty="0"/>
            <a:t>Deep Learning Models</a:t>
          </a:r>
          <a:endParaRPr lang="en-US" dirty="0"/>
        </a:p>
      </dgm:t>
    </dgm:pt>
    <dgm:pt modelId="{62A38837-6727-458B-BD94-E6F4108E3683}" type="parTrans" cxnId="{0FD871BF-3C21-4558-80CF-6CCC4F8A8C30}">
      <dgm:prSet/>
      <dgm:spPr/>
      <dgm:t>
        <a:bodyPr/>
        <a:lstStyle/>
        <a:p>
          <a:endParaRPr lang="en-US"/>
        </a:p>
      </dgm:t>
    </dgm:pt>
    <dgm:pt modelId="{45328DD5-8F20-49E0-BFAD-4CA29852FF72}" type="sibTrans" cxnId="{0FD871BF-3C21-4558-80CF-6CCC4F8A8C30}">
      <dgm:prSet/>
      <dgm:spPr/>
      <dgm:t>
        <a:bodyPr/>
        <a:lstStyle/>
        <a:p>
          <a:endParaRPr lang="en-US"/>
        </a:p>
      </dgm:t>
    </dgm:pt>
    <dgm:pt modelId="{31EA2261-7245-4B76-8DC7-1074EA050669}">
      <dgm:prSet/>
      <dgm:spPr/>
      <dgm:t>
        <a:bodyPr/>
        <a:lstStyle/>
        <a:p>
          <a:pPr>
            <a:buNone/>
          </a:pPr>
          <a:r>
            <a:rPr lang="en-US" b="0" i="0"/>
            <a:t>Hybrid AI Models</a:t>
          </a:r>
        </a:p>
      </dgm:t>
    </dgm:pt>
    <dgm:pt modelId="{36CD88DB-3320-4118-B1FD-04A47527DF03}" type="parTrans" cxnId="{A66F086C-5896-42CB-A5D3-6DE186419B7C}">
      <dgm:prSet/>
      <dgm:spPr/>
      <dgm:t>
        <a:bodyPr/>
        <a:lstStyle/>
        <a:p>
          <a:endParaRPr lang="en-US"/>
        </a:p>
      </dgm:t>
    </dgm:pt>
    <dgm:pt modelId="{804AF317-A328-4CEF-BA19-12ED0A83963D}" type="sibTrans" cxnId="{A66F086C-5896-42CB-A5D3-6DE186419B7C}">
      <dgm:prSet/>
      <dgm:spPr/>
      <dgm:t>
        <a:bodyPr/>
        <a:lstStyle/>
        <a:p>
          <a:endParaRPr lang="en-US"/>
        </a:p>
      </dgm:t>
    </dgm:pt>
    <dgm:pt modelId="{DF81F597-D57E-43B3-B929-64193FF7584C}">
      <dgm:prSet/>
      <dgm:spPr/>
      <dgm:t>
        <a:bodyPr/>
        <a:lstStyle/>
        <a:p>
          <a:pPr>
            <a:buNone/>
          </a:pPr>
          <a:r>
            <a:rPr lang="en-US" b="0" i="0" dirty="0"/>
            <a:t>AI-Assisted Consumer Decision Making</a:t>
          </a:r>
        </a:p>
      </dgm:t>
    </dgm:pt>
    <dgm:pt modelId="{734BD766-598C-42CA-BD43-08409189A08B}" type="parTrans" cxnId="{5C9EB50C-F609-419B-8017-A98EF5F22C35}">
      <dgm:prSet/>
      <dgm:spPr/>
      <dgm:t>
        <a:bodyPr/>
        <a:lstStyle/>
        <a:p>
          <a:endParaRPr lang="en-US"/>
        </a:p>
      </dgm:t>
    </dgm:pt>
    <dgm:pt modelId="{27A59A70-09D1-479A-866A-BE2B4C23BE45}" type="sibTrans" cxnId="{5C9EB50C-F609-419B-8017-A98EF5F22C35}">
      <dgm:prSet/>
      <dgm:spPr/>
      <dgm:t>
        <a:bodyPr/>
        <a:lstStyle/>
        <a:p>
          <a:endParaRPr lang="en-US"/>
        </a:p>
      </dgm:t>
    </dgm:pt>
    <dgm:pt modelId="{695A5681-9679-49C9-A41A-AB14DDF10B89}" type="pres">
      <dgm:prSet presAssocID="{4265272A-365F-4788-B809-CBA72AEC7C13}" presName="CompostProcess" presStyleCnt="0">
        <dgm:presLayoutVars>
          <dgm:dir/>
          <dgm:resizeHandles val="exact"/>
        </dgm:presLayoutVars>
      </dgm:prSet>
      <dgm:spPr/>
    </dgm:pt>
    <dgm:pt modelId="{4279FCD9-6FA5-4AFE-8A25-36063755D1D1}" type="pres">
      <dgm:prSet presAssocID="{4265272A-365F-4788-B809-CBA72AEC7C13}" presName="arrow" presStyleLbl="bgShp" presStyleIdx="0" presStyleCnt="1"/>
      <dgm:spPr/>
    </dgm:pt>
    <dgm:pt modelId="{57EB43A9-21A2-4C32-92F5-292E0945D38F}" type="pres">
      <dgm:prSet presAssocID="{4265272A-365F-4788-B809-CBA72AEC7C13}" presName="linearProcess" presStyleCnt="0"/>
      <dgm:spPr/>
    </dgm:pt>
    <dgm:pt modelId="{3D88B60F-6B32-47B0-8FA7-85DD08FF4DFD}" type="pres">
      <dgm:prSet presAssocID="{E8A1C908-C82A-48E4-AF5E-27B6D1E4F0F1}" presName="textNode" presStyleLbl="node1" presStyleIdx="0" presStyleCnt="5">
        <dgm:presLayoutVars>
          <dgm:bulletEnabled val="1"/>
        </dgm:presLayoutVars>
      </dgm:prSet>
      <dgm:spPr/>
    </dgm:pt>
    <dgm:pt modelId="{DFEA16AD-07C6-4B1D-A8C4-9F4EEBAA15A5}" type="pres">
      <dgm:prSet presAssocID="{433EDBB0-E8DF-48D1-90B2-89C863ADD04D}" presName="sibTrans" presStyleCnt="0"/>
      <dgm:spPr/>
    </dgm:pt>
    <dgm:pt modelId="{5E275786-9829-492A-8116-9BD0D8222E41}" type="pres">
      <dgm:prSet presAssocID="{F2248261-408C-4C88-93A6-89CB6AB840B5}" presName="textNode" presStyleLbl="node1" presStyleIdx="1" presStyleCnt="5">
        <dgm:presLayoutVars>
          <dgm:bulletEnabled val="1"/>
        </dgm:presLayoutVars>
      </dgm:prSet>
      <dgm:spPr/>
    </dgm:pt>
    <dgm:pt modelId="{478A5FD0-7DC6-462C-BEF5-11708DBD4B08}" type="pres">
      <dgm:prSet presAssocID="{D7E773DF-00BC-4B1C-8521-20B700357A70}" presName="sibTrans" presStyleCnt="0"/>
      <dgm:spPr/>
    </dgm:pt>
    <dgm:pt modelId="{EF61F055-4535-4104-8D05-3C97D75CAB04}" type="pres">
      <dgm:prSet presAssocID="{D9374B46-CE34-4F71-BF1E-C01FC4E05C8C}" presName="textNode" presStyleLbl="node1" presStyleIdx="2" presStyleCnt="5">
        <dgm:presLayoutVars>
          <dgm:bulletEnabled val="1"/>
        </dgm:presLayoutVars>
      </dgm:prSet>
      <dgm:spPr/>
    </dgm:pt>
    <dgm:pt modelId="{46D5EFC0-42F3-459A-ACCB-F2B03AC2C121}" type="pres">
      <dgm:prSet presAssocID="{45328DD5-8F20-49E0-BFAD-4CA29852FF72}" presName="sibTrans" presStyleCnt="0"/>
      <dgm:spPr/>
    </dgm:pt>
    <dgm:pt modelId="{E9D76863-DD30-44F0-AC76-8A759E49402F}" type="pres">
      <dgm:prSet presAssocID="{31EA2261-7245-4B76-8DC7-1074EA050669}" presName="textNode" presStyleLbl="node1" presStyleIdx="3" presStyleCnt="5">
        <dgm:presLayoutVars>
          <dgm:bulletEnabled val="1"/>
        </dgm:presLayoutVars>
      </dgm:prSet>
      <dgm:spPr/>
    </dgm:pt>
    <dgm:pt modelId="{F415E7C3-0B19-4702-8DEA-3F47057C3A3B}" type="pres">
      <dgm:prSet presAssocID="{804AF317-A328-4CEF-BA19-12ED0A83963D}" presName="sibTrans" presStyleCnt="0"/>
      <dgm:spPr/>
    </dgm:pt>
    <dgm:pt modelId="{DDBB748A-B324-4F1C-B082-4D53C92C14FB}" type="pres">
      <dgm:prSet presAssocID="{DF81F597-D57E-43B3-B929-64193FF7584C}" presName="textNode" presStyleLbl="node1" presStyleIdx="4" presStyleCnt="5">
        <dgm:presLayoutVars>
          <dgm:bulletEnabled val="1"/>
        </dgm:presLayoutVars>
      </dgm:prSet>
      <dgm:spPr/>
    </dgm:pt>
  </dgm:ptLst>
  <dgm:cxnLst>
    <dgm:cxn modelId="{5C9EB50C-F609-419B-8017-A98EF5F22C35}" srcId="{4265272A-365F-4788-B809-CBA72AEC7C13}" destId="{DF81F597-D57E-43B3-B929-64193FF7584C}" srcOrd="4" destOrd="0" parTransId="{734BD766-598C-42CA-BD43-08409189A08B}" sibTransId="{27A59A70-09D1-479A-866A-BE2B4C23BE45}"/>
    <dgm:cxn modelId="{6E2D0063-01D1-47B4-82A5-337C48F9BB91}" type="presOf" srcId="{DF81F597-D57E-43B3-B929-64193FF7584C}" destId="{DDBB748A-B324-4F1C-B082-4D53C92C14FB}" srcOrd="0" destOrd="0" presId="urn:microsoft.com/office/officeart/2005/8/layout/hProcess9"/>
    <dgm:cxn modelId="{A66F086C-5896-42CB-A5D3-6DE186419B7C}" srcId="{4265272A-365F-4788-B809-CBA72AEC7C13}" destId="{31EA2261-7245-4B76-8DC7-1074EA050669}" srcOrd="3" destOrd="0" parTransId="{36CD88DB-3320-4118-B1FD-04A47527DF03}" sibTransId="{804AF317-A328-4CEF-BA19-12ED0A83963D}"/>
    <dgm:cxn modelId="{EF92B26E-3B43-4D80-9B4F-E2BEF14EF874}" type="presOf" srcId="{F2248261-408C-4C88-93A6-89CB6AB840B5}" destId="{5E275786-9829-492A-8116-9BD0D8222E41}" srcOrd="0" destOrd="0" presId="urn:microsoft.com/office/officeart/2005/8/layout/hProcess9"/>
    <dgm:cxn modelId="{9ECD1984-F5C9-466F-95BF-B5639B477EED}" srcId="{4265272A-365F-4788-B809-CBA72AEC7C13}" destId="{E8A1C908-C82A-48E4-AF5E-27B6D1E4F0F1}" srcOrd="0" destOrd="0" parTransId="{2F21F539-B84C-4956-B1CF-51795FBB05C0}" sibTransId="{433EDBB0-E8DF-48D1-90B2-89C863ADD04D}"/>
    <dgm:cxn modelId="{12AA098E-E0B4-45D0-BAD9-57888A462898}" srcId="{4265272A-365F-4788-B809-CBA72AEC7C13}" destId="{F2248261-408C-4C88-93A6-89CB6AB840B5}" srcOrd="1" destOrd="0" parTransId="{C83B163C-EA58-4CE4-856B-9AB15FACFFEE}" sibTransId="{D7E773DF-00BC-4B1C-8521-20B700357A70}"/>
    <dgm:cxn modelId="{27E0D6A1-7FA3-462C-A976-71336D526125}" type="presOf" srcId="{D9374B46-CE34-4F71-BF1E-C01FC4E05C8C}" destId="{EF61F055-4535-4104-8D05-3C97D75CAB04}" srcOrd="0" destOrd="0" presId="urn:microsoft.com/office/officeart/2005/8/layout/hProcess9"/>
    <dgm:cxn modelId="{0FD871BF-3C21-4558-80CF-6CCC4F8A8C30}" srcId="{4265272A-365F-4788-B809-CBA72AEC7C13}" destId="{D9374B46-CE34-4F71-BF1E-C01FC4E05C8C}" srcOrd="2" destOrd="0" parTransId="{62A38837-6727-458B-BD94-E6F4108E3683}" sibTransId="{45328DD5-8F20-49E0-BFAD-4CA29852FF72}"/>
    <dgm:cxn modelId="{E2C473C9-3965-4A6F-900E-C71085EE8368}" type="presOf" srcId="{31EA2261-7245-4B76-8DC7-1074EA050669}" destId="{E9D76863-DD30-44F0-AC76-8A759E49402F}" srcOrd="0" destOrd="0" presId="urn:microsoft.com/office/officeart/2005/8/layout/hProcess9"/>
    <dgm:cxn modelId="{5065D7DC-E37E-4DBC-9390-92F5988DE8B4}" type="presOf" srcId="{4265272A-365F-4788-B809-CBA72AEC7C13}" destId="{695A5681-9679-49C9-A41A-AB14DDF10B89}" srcOrd="0" destOrd="0" presId="urn:microsoft.com/office/officeart/2005/8/layout/hProcess9"/>
    <dgm:cxn modelId="{51C0D5E6-06AB-4FF8-BA69-39DF56CC5312}" type="presOf" srcId="{E8A1C908-C82A-48E4-AF5E-27B6D1E4F0F1}" destId="{3D88B60F-6B32-47B0-8FA7-85DD08FF4DFD}" srcOrd="0" destOrd="0" presId="urn:microsoft.com/office/officeart/2005/8/layout/hProcess9"/>
    <dgm:cxn modelId="{E25FD0EF-BA7E-4805-9213-7805C750880E}" type="presParOf" srcId="{695A5681-9679-49C9-A41A-AB14DDF10B89}" destId="{4279FCD9-6FA5-4AFE-8A25-36063755D1D1}" srcOrd="0" destOrd="0" presId="urn:microsoft.com/office/officeart/2005/8/layout/hProcess9"/>
    <dgm:cxn modelId="{01E506DD-3E16-4242-B077-316A688F4173}" type="presParOf" srcId="{695A5681-9679-49C9-A41A-AB14DDF10B89}" destId="{57EB43A9-21A2-4C32-92F5-292E0945D38F}" srcOrd="1" destOrd="0" presId="urn:microsoft.com/office/officeart/2005/8/layout/hProcess9"/>
    <dgm:cxn modelId="{E141FB54-DEC9-4098-BF3E-4FE0021BDCC6}" type="presParOf" srcId="{57EB43A9-21A2-4C32-92F5-292E0945D38F}" destId="{3D88B60F-6B32-47B0-8FA7-85DD08FF4DFD}" srcOrd="0" destOrd="0" presId="urn:microsoft.com/office/officeart/2005/8/layout/hProcess9"/>
    <dgm:cxn modelId="{2D8D14DC-6F11-4667-B883-2C7BEB89E671}" type="presParOf" srcId="{57EB43A9-21A2-4C32-92F5-292E0945D38F}" destId="{DFEA16AD-07C6-4B1D-A8C4-9F4EEBAA15A5}" srcOrd="1" destOrd="0" presId="urn:microsoft.com/office/officeart/2005/8/layout/hProcess9"/>
    <dgm:cxn modelId="{BBF72915-E467-43DF-9930-69C12E3C7161}" type="presParOf" srcId="{57EB43A9-21A2-4C32-92F5-292E0945D38F}" destId="{5E275786-9829-492A-8116-9BD0D8222E41}" srcOrd="2" destOrd="0" presId="urn:microsoft.com/office/officeart/2005/8/layout/hProcess9"/>
    <dgm:cxn modelId="{69017F95-298F-4FE0-A445-5DE70F1DD947}" type="presParOf" srcId="{57EB43A9-21A2-4C32-92F5-292E0945D38F}" destId="{478A5FD0-7DC6-462C-BEF5-11708DBD4B08}" srcOrd="3" destOrd="0" presId="urn:microsoft.com/office/officeart/2005/8/layout/hProcess9"/>
    <dgm:cxn modelId="{39F33042-6B59-4F2B-9D4A-A348AFD45C55}" type="presParOf" srcId="{57EB43A9-21A2-4C32-92F5-292E0945D38F}" destId="{EF61F055-4535-4104-8D05-3C97D75CAB04}" srcOrd="4" destOrd="0" presId="urn:microsoft.com/office/officeart/2005/8/layout/hProcess9"/>
    <dgm:cxn modelId="{F907202F-99FB-473F-A056-9BDB8F8A3789}" type="presParOf" srcId="{57EB43A9-21A2-4C32-92F5-292E0945D38F}" destId="{46D5EFC0-42F3-459A-ACCB-F2B03AC2C121}" srcOrd="5" destOrd="0" presId="urn:microsoft.com/office/officeart/2005/8/layout/hProcess9"/>
    <dgm:cxn modelId="{43B1F26B-4F91-4E3D-B809-CF1B7284A40E}" type="presParOf" srcId="{57EB43A9-21A2-4C32-92F5-292E0945D38F}" destId="{E9D76863-DD30-44F0-AC76-8A759E49402F}" srcOrd="6" destOrd="0" presId="urn:microsoft.com/office/officeart/2005/8/layout/hProcess9"/>
    <dgm:cxn modelId="{F5AED4F5-0D43-4F7E-B89F-F5A5F1062272}" type="presParOf" srcId="{57EB43A9-21A2-4C32-92F5-292E0945D38F}" destId="{F415E7C3-0B19-4702-8DEA-3F47057C3A3B}" srcOrd="7" destOrd="0" presId="urn:microsoft.com/office/officeart/2005/8/layout/hProcess9"/>
    <dgm:cxn modelId="{528AABD3-5652-400C-A0B3-664F4DC54E75}" type="presParOf" srcId="{57EB43A9-21A2-4C32-92F5-292E0945D38F}" destId="{DDBB748A-B324-4F1C-B082-4D53C92C14FB}"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CAF44FB-34FA-42BE-B99E-33E736593129}"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73531C98-16EB-4F8B-BC8A-CF50259064B1}">
      <dgm:prSet phldrT="[Text]"/>
      <dgm:spPr/>
      <dgm:t>
        <a:bodyPr/>
        <a:lstStyle/>
        <a:p>
          <a:pPr>
            <a:buNone/>
          </a:pPr>
          <a:r>
            <a:rPr lang="en-US" b="0" i="0" dirty="0"/>
            <a:t>Nutrition Label Reading</a:t>
          </a:r>
          <a:endParaRPr lang="en-US" dirty="0"/>
        </a:p>
      </dgm:t>
    </dgm:pt>
    <dgm:pt modelId="{BB76C7B1-516D-422B-93FB-6901CC0FC04E}" type="parTrans" cxnId="{2DBA26FA-37A3-49E2-81C9-51EE6A5C912E}">
      <dgm:prSet/>
      <dgm:spPr/>
      <dgm:t>
        <a:bodyPr/>
        <a:lstStyle/>
        <a:p>
          <a:endParaRPr lang="en-US"/>
        </a:p>
      </dgm:t>
    </dgm:pt>
    <dgm:pt modelId="{47D6D41E-14D4-4D0F-BA0E-0FBE02AA904C}" type="sibTrans" cxnId="{2DBA26FA-37A3-49E2-81C9-51EE6A5C912E}">
      <dgm:prSet/>
      <dgm:spPr/>
      <dgm:t>
        <a:bodyPr/>
        <a:lstStyle/>
        <a:p>
          <a:endParaRPr lang="en-US"/>
        </a:p>
      </dgm:t>
    </dgm:pt>
    <dgm:pt modelId="{98897FCC-A8B3-4DB7-867B-93D73C1A6A4E}">
      <dgm:prSet phldrT="[Text]"/>
      <dgm:spPr/>
      <dgm:t>
        <a:bodyPr/>
        <a:lstStyle/>
        <a:p>
          <a:pPr>
            <a:buNone/>
          </a:pPr>
          <a:r>
            <a:rPr lang="en-US" b="0" i="0" dirty="0"/>
            <a:t>Nutrition Awareness</a:t>
          </a:r>
          <a:endParaRPr lang="en-US" dirty="0"/>
        </a:p>
      </dgm:t>
    </dgm:pt>
    <dgm:pt modelId="{728B7512-F09C-4317-AF05-9F89F48B0795}" type="parTrans" cxnId="{2B6B1739-AC79-41B1-B9C0-64412251578A}">
      <dgm:prSet/>
      <dgm:spPr/>
      <dgm:t>
        <a:bodyPr/>
        <a:lstStyle/>
        <a:p>
          <a:endParaRPr lang="en-US"/>
        </a:p>
      </dgm:t>
    </dgm:pt>
    <dgm:pt modelId="{4C451532-3910-49BF-A5BC-7C7629BA1C34}" type="sibTrans" cxnId="{2B6B1739-AC79-41B1-B9C0-64412251578A}">
      <dgm:prSet/>
      <dgm:spPr/>
      <dgm:t>
        <a:bodyPr/>
        <a:lstStyle/>
        <a:p>
          <a:endParaRPr lang="en-US"/>
        </a:p>
      </dgm:t>
    </dgm:pt>
    <dgm:pt modelId="{D84D32BC-F2A3-46E4-A280-C622D93F68BE}">
      <dgm:prSet phldrT="[Text]"/>
      <dgm:spPr/>
      <dgm:t>
        <a:bodyPr/>
        <a:lstStyle/>
        <a:p>
          <a:pPr>
            <a:buNone/>
          </a:pPr>
          <a:r>
            <a:rPr lang="en-US" b="0" i="0" dirty="0"/>
            <a:t>Nutrition Awareness</a:t>
          </a:r>
          <a:endParaRPr lang="en-US" dirty="0"/>
        </a:p>
      </dgm:t>
    </dgm:pt>
    <dgm:pt modelId="{5E295329-161F-42DA-8044-09BA01315B7D}" type="parTrans" cxnId="{F0AEDEEB-C526-4A14-BA80-68C270D255F0}">
      <dgm:prSet/>
      <dgm:spPr/>
      <dgm:t>
        <a:bodyPr/>
        <a:lstStyle/>
        <a:p>
          <a:endParaRPr lang="en-US"/>
        </a:p>
      </dgm:t>
    </dgm:pt>
    <dgm:pt modelId="{7D2344E2-A1AB-4945-8665-ADFF81E3B9C2}" type="sibTrans" cxnId="{F0AEDEEB-C526-4A14-BA80-68C270D255F0}">
      <dgm:prSet/>
      <dgm:spPr/>
      <dgm:t>
        <a:bodyPr/>
        <a:lstStyle/>
        <a:p>
          <a:endParaRPr lang="en-US"/>
        </a:p>
      </dgm:t>
    </dgm:pt>
    <dgm:pt modelId="{CEA9EC18-605A-4CE3-8374-56B156805491}">
      <dgm:prSet/>
      <dgm:spPr/>
      <dgm:t>
        <a:bodyPr/>
        <a:lstStyle/>
        <a:p>
          <a:pPr>
            <a:buNone/>
          </a:pPr>
          <a:r>
            <a:rPr lang="en-US" b="0" i="0" dirty="0"/>
            <a:t>Transparency</a:t>
          </a:r>
        </a:p>
      </dgm:t>
    </dgm:pt>
    <dgm:pt modelId="{435499B7-7772-4B0D-AA64-F5C23D5DCFE0}" type="parTrans" cxnId="{D22F5D93-08A1-4501-A98D-5FD4659AF60A}">
      <dgm:prSet/>
      <dgm:spPr/>
      <dgm:t>
        <a:bodyPr/>
        <a:lstStyle/>
        <a:p>
          <a:endParaRPr lang="en-US"/>
        </a:p>
      </dgm:t>
    </dgm:pt>
    <dgm:pt modelId="{79943C64-6740-4BC6-969B-1937462EA2B3}" type="sibTrans" cxnId="{D22F5D93-08A1-4501-A98D-5FD4659AF60A}">
      <dgm:prSet/>
      <dgm:spPr/>
      <dgm:t>
        <a:bodyPr/>
        <a:lstStyle/>
        <a:p>
          <a:endParaRPr lang="en-US"/>
        </a:p>
      </dgm:t>
    </dgm:pt>
    <dgm:pt modelId="{F1731DDF-C8EC-4CEC-8976-823A3C30D496}">
      <dgm:prSet/>
      <dgm:spPr/>
      <dgm:t>
        <a:bodyPr/>
        <a:lstStyle/>
        <a:p>
          <a:pPr>
            <a:buNone/>
          </a:pPr>
          <a:r>
            <a:rPr lang="en-US" b="0" i="0"/>
            <a:t>Trust</a:t>
          </a:r>
        </a:p>
      </dgm:t>
    </dgm:pt>
    <dgm:pt modelId="{D03F204D-620B-4BEC-AB44-3A39BEB72A22}" type="parTrans" cxnId="{2C10E98A-4AE4-476D-8839-0CC29F66F7D2}">
      <dgm:prSet/>
      <dgm:spPr/>
      <dgm:t>
        <a:bodyPr/>
        <a:lstStyle/>
        <a:p>
          <a:endParaRPr lang="en-US"/>
        </a:p>
      </dgm:t>
    </dgm:pt>
    <dgm:pt modelId="{943144D6-067B-46C6-AA03-FEAB15611CA7}" type="sibTrans" cxnId="{2C10E98A-4AE4-476D-8839-0CC29F66F7D2}">
      <dgm:prSet/>
      <dgm:spPr/>
      <dgm:t>
        <a:bodyPr/>
        <a:lstStyle/>
        <a:p>
          <a:endParaRPr lang="en-US"/>
        </a:p>
      </dgm:t>
    </dgm:pt>
    <dgm:pt modelId="{0AB8C35D-3FB7-4A81-9EDA-432134B5E765}" type="pres">
      <dgm:prSet presAssocID="{5CAF44FB-34FA-42BE-B99E-33E736593129}" presName="hierChild1" presStyleCnt="0">
        <dgm:presLayoutVars>
          <dgm:chPref val="1"/>
          <dgm:dir/>
          <dgm:animOne val="branch"/>
          <dgm:animLvl val="lvl"/>
          <dgm:resizeHandles/>
        </dgm:presLayoutVars>
      </dgm:prSet>
      <dgm:spPr/>
    </dgm:pt>
    <dgm:pt modelId="{CCA7927A-5911-4A6A-8419-1D478C311500}" type="pres">
      <dgm:prSet presAssocID="{73531C98-16EB-4F8B-BC8A-CF50259064B1}" presName="hierRoot1" presStyleCnt="0"/>
      <dgm:spPr/>
    </dgm:pt>
    <dgm:pt modelId="{40E82097-3501-4400-B3AB-A12BCAAF223D}" type="pres">
      <dgm:prSet presAssocID="{73531C98-16EB-4F8B-BC8A-CF50259064B1}" presName="composite" presStyleCnt="0"/>
      <dgm:spPr/>
    </dgm:pt>
    <dgm:pt modelId="{5665B95F-A1EE-41B2-B3C6-2B0C5F146312}" type="pres">
      <dgm:prSet presAssocID="{73531C98-16EB-4F8B-BC8A-CF50259064B1}" presName="background" presStyleLbl="node0" presStyleIdx="0" presStyleCnt="1"/>
      <dgm:spPr/>
    </dgm:pt>
    <dgm:pt modelId="{E4E0E18F-67C7-4CF8-9A86-7594B2F46B2F}" type="pres">
      <dgm:prSet presAssocID="{73531C98-16EB-4F8B-BC8A-CF50259064B1}" presName="text" presStyleLbl="fgAcc0" presStyleIdx="0" presStyleCnt="1">
        <dgm:presLayoutVars>
          <dgm:chPref val="3"/>
        </dgm:presLayoutVars>
      </dgm:prSet>
      <dgm:spPr/>
    </dgm:pt>
    <dgm:pt modelId="{69BC67E6-3ACE-43BD-8525-DAA7C6819905}" type="pres">
      <dgm:prSet presAssocID="{73531C98-16EB-4F8B-BC8A-CF50259064B1}" presName="hierChild2" presStyleCnt="0"/>
      <dgm:spPr/>
    </dgm:pt>
    <dgm:pt modelId="{1775A9C6-0093-455E-977A-F352E9445162}" type="pres">
      <dgm:prSet presAssocID="{728B7512-F09C-4317-AF05-9F89F48B0795}" presName="Name10" presStyleLbl="parChTrans1D2" presStyleIdx="0" presStyleCnt="1"/>
      <dgm:spPr/>
    </dgm:pt>
    <dgm:pt modelId="{73B419DE-ACAC-4033-9909-EB4334A66A2E}" type="pres">
      <dgm:prSet presAssocID="{98897FCC-A8B3-4DB7-867B-93D73C1A6A4E}" presName="hierRoot2" presStyleCnt="0"/>
      <dgm:spPr/>
    </dgm:pt>
    <dgm:pt modelId="{5F0A84F3-E957-4014-B6D5-09705B37018B}" type="pres">
      <dgm:prSet presAssocID="{98897FCC-A8B3-4DB7-867B-93D73C1A6A4E}" presName="composite2" presStyleCnt="0"/>
      <dgm:spPr/>
    </dgm:pt>
    <dgm:pt modelId="{125A104B-CF57-43D0-AC46-59770FD68396}" type="pres">
      <dgm:prSet presAssocID="{98897FCC-A8B3-4DB7-867B-93D73C1A6A4E}" presName="background2" presStyleLbl="node2" presStyleIdx="0" presStyleCnt="1"/>
      <dgm:spPr/>
    </dgm:pt>
    <dgm:pt modelId="{7745D433-11F1-4A71-8FAF-BE8998379C08}" type="pres">
      <dgm:prSet presAssocID="{98897FCC-A8B3-4DB7-867B-93D73C1A6A4E}" presName="text2" presStyleLbl="fgAcc2" presStyleIdx="0" presStyleCnt="1">
        <dgm:presLayoutVars>
          <dgm:chPref val="3"/>
        </dgm:presLayoutVars>
      </dgm:prSet>
      <dgm:spPr/>
    </dgm:pt>
    <dgm:pt modelId="{4412EDBE-0F16-4C38-83A6-C8AC77DD8B19}" type="pres">
      <dgm:prSet presAssocID="{98897FCC-A8B3-4DB7-867B-93D73C1A6A4E}" presName="hierChild3" presStyleCnt="0"/>
      <dgm:spPr/>
    </dgm:pt>
    <dgm:pt modelId="{900AD5CE-21BC-4F3E-9952-7F9B5A2807D3}" type="pres">
      <dgm:prSet presAssocID="{5E295329-161F-42DA-8044-09BA01315B7D}" presName="Name17" presStyleLbl="parChTrans1D3" presStyleIdx="0" presStyleCnt="1"/>
      <dgm:spPr/>
    </dgm:pt>
    <dgm:pt modelId="{76474396-3F7D-42F3-9567-7755ED35CDCD}" type="pres">
      <dgm:prSet presAssocID="{D84D32BC-F2A3-46E4-A280-C622D93F68BE}" presName="hierRoot3" presStyleCnt="0"/>
      <dgm:spPr/>
    </dgm:pt>
    <dgm:pt modelId="{3E8E3904-75B1-49C0-9465-3708CB8E8C2A}" type="pres">
      <dgm:prSet presAssocID="{D84D32BC-F2A3-46E4-A280-C622D93F68BE}" presName="composite3" presStyleCnt="0"/>
      <dgm:spPr/>
    </dgm:pt>
    <dgm:pt modelId="{C91DD42A-1EFC-4529-8F01-3028903E84D7}" type="pres">
      <dgm:prSet presAssocID="{D84D32BC-F2A3-46E4-A280-C622D93F68BE}" presName="background3" presStyleLbl="node3" presStyleIdx="0" presStyleCnt="1"/>
      <dgm:spPr/>
    </dgm:pt>
    <dgm:pt modelId="{C962E95F-E0FC-47A3-889E-8A838A76AECA}" type="pres">
      <dgm:prSet presAssocID="{D84D32BC-F2A3-46E4-A280-C622D93F68BE}" presName="text3" presStyleLbl="fgAcc3" presStyleIdx="0" presStyleCnt="1">
        <dgm:presLayoutVars>
          <dgm:chPref val="3"/>
        </dgm:presLayoutVars>
      </dgm:prSet>
      <dgm:spPr/>
    </dgm:pt>
    <dgm:pt modelId="{80D87664-F323-4232-9D37-23D2D9295DF1}" type="pres">
      <dgm:prSet presAssocID="{D84D32BC-F2A3-46E4-A280-C622D93F68BE}" presName="hierChild4" presStyleCnt="0"/>
      <dgm:spPr/>
    </dgm:pt>
    <dgm:pt modelId="{E49C9836-1729-4B45-8C01-0ECBDCD17503}" type="pres">
      <dgm:prSet presAssocID="{D03F204D-620B-4BEC-AB44-3A39BEB72A22}" presName="Name23" presStyleLbl="parChTrans1D4" presStyleIdx="0" presStyleCnt="2"/>
      <dgm:spPr/>
    </dgm:pt>
    <dgm:pt modelId="{6242C097-9A8E-4F68-A6CC-D182714F0E37}" type="pres">
      <dgm:prSet presAssocID="{F1731DDF-C8EC-4CEC-8976-823A3C30D496}" presName="hierRoot4" presStyleCnt="0"/>
      <dgm:spPr/>
    </dgm:pt>
    <dgm:pt modelId="{AA8E33AD-C555-4870-BD91-DB7E445D7932}" type="pres">
      <dgm:prSet presAssocID="{F1731DDF-C8EC-4CEC-8976-823A3C30D496}" presName="composite4" presStyleCnt="0"/>
      <dgm:spPr/>
    </dgm:pt>
    <dgm:pt modelId="{A786D5A9-4868-4594-8EC7-8222AFC35CCF}" type="pres">
      <dgm:prSet presAssocID="{F1731DDF-C8EC-4CEC-8976-823A3C30D496}" presName="background4" presStyleLbl="node4" presStyleIdx="0" presStyleCnt="2"/>
      <dgm:spPr/>
    </dgm:pt>
    <dgm:pt modelId="{F7FC7B9A-888A-44C8-BF09-A1677A104BF5}" type="pres">
      <dgm:prSet presAssocID="{F1731DDF-C8EC-4CEC-8976-823A3C30D496}" presName="text4" presStyleLbl="fgAcc4" presStyleIdx="0" presStyleCnt="2">
        <dgm:presLayoutVars>
          <dgm:chPref val="3"/>
        </dgm:presLayoutVars>
      </dgm:prSet>
      <dgm:spPr/>
    </dgm:pt>
    <dgm:pt modelId="{FF824B00-97E6-4F00-BFF5-ECC8B547ECAB}" type="pres">
      <dgm:prSet presAssocID="{F1731DDF-C8EC-4CEC-8976-823A3C30D496}" presName="hierChild5" presStyleCnt="0"/>
      <dgm:spPr/>
    </dgm:pt>
    <dgm:pt modelId="{EEE5A3E4-405B-4824-954D-9D86523F642A}" type="pres">
      <dgm:prSet presAssocID="{435499B7-7772-4B0D-AA64-F5C23D5DCFE0}" presName="Name23" presStyleLbl="parChTrans1D4" presStyleIdx="1" presStyleCnt="2"/>
      <dgm:spPr/>
    </dgm:pt>
    <dgm:pt modelId="{15BF657F-0649-487E-B880-8ED70BCF7F43}" type="pres">
      <dgm:prSet presAssocID="{CEA9EC18-605A-4CE3-8374-56B156805491}" presName="hierRoot4" presStyleCnt="0"/>
      <dgm:spPr/>
    </dgm:pt>
    <dgm:pt modelId="{0CD871C9-CA4E-42CE-881F-C71BB0259F7F}" type="pres">
      <dgm:prSet presAssocID="{CEA9EC18-605A-4CE3-8374-56B156805491}" presName="composite4" presStyleCnt="0"/>
      <dgm:spPr/>
    </dgm:pt>
    <dgm:pt modelId="{EFB50999-7D64-4130-ACD9-40A1E2FAE2B4}" type="pres">
      <dgm:prSet presAssocID="{CEA9EC18-605A-4CE3-8374-56B156805491}" presName="background4" presStyleLbl="node4" presStyleIdx="1" presStyleCnt="2"/>
      <dgm:spPr/>
    </dgm:pt>
    <dgm:pt modelId="{DDBA1E72-86C3-444D-81C5-526FF4AB6B84}" type="pres">
      <dgm:prSet presAssocID="{CEA9EC18-605A-4CE3-8374-56B156805491}" presName="text4" presStyleLbl="fgAcc4" presStyleIdx="1" presStyleCnt="2" custScaleX="90909">
        <dgm:presLayoutVars>
          <dgm:chPref val="3"/>
        </dgm:presLayoutVars>
      </dgm:prSet>
      <dgm:spPr/>
    </dgm:pt>
    <dgm:pt modelId="{87144661-7403-4EE3-AC5C-C846E11CB220}" type="pres">
      <dgm:prSet presAssocID="{CEA9EC18-605A-4CE3-8374-56B156805491}" presName="hierChild5" presStyleCnt="0"/>
      <dgm:spPr/>
    </dgm:pt>
  </dgm:ptLst>
  <dgm:cxnLst>
    <dgm:cxn modelId="{B14A2607-47C5-46C6-BD35-6339B3B149F2}" type="presOf" srcId="{73531C98-16EB-4F8B-BC8A-CF50259064B1}" destId="{E4E0E18F-67C7-4CF8-9A86-7594B2F46B2F}" srcOrd="0" destOrd="0" presId="urn:microsoft.com/office/officeart/2005/8/layout/hierarchy1"/>
    <dgm:cxn modelId="{2B6B1739-AC79-41B1-B9C0-64412251578A}" srcId="{73531C98-16EB-4F8B-BC8A-CF50259064B1}" destId="{98897FCC-A8B3-4DB7-867B-93D73C1A6A4E}" srcOrd="0" destOrd="0" parTransId="{728B7512-F09C-4317-AF05-9F89F48B0795}" sibTransId="{4C451532-3910-49BF-A5BC-7C7629BA1C34}"/>
    <dgm:cxn modelId="{24D1DC62-8D80-4A82-84AA-C7C3D4027466}" type="presOf" srcId="{435499B7-7772-4B0D-AA64-F5C23D5DCFE0}" destId="{EEE5A3E4-405B-4824-954D-9D86523F642A}" srcOrd="0" destOrd="0" presId="urn:microsoft.com/office/officeart/2005/8/layout/hierarchy1"/>
    <dgm:cxn modelId="{1C8BB76C-04BB-401E-8567-C45E2B21AF67}" type="presOf" srcId="{98897FCC-A8B3-4DB7-867B-93D73C1A6A4E}" destId="{7745D433-11F1-4A71-8FAF-BE8998379C08}" srcOrd="0" destOrd="0" presId="urn:microsoft.com/office/officeart/2005/8/layout/hierarchy1"/>
    <dgm:cxn modelId="{40B66456-8DD1-43DD-B92B-57C4096E70F7}" type="presOf" srcId="{D84D32BC-F2A3-46E4-A280-C622D93F68BE}" destId="{C962E95F-E0FC-47A3-889E-8A838A76AECA}" srcOrd="0" destOrd="0" presId="urn:microsoft.com/office/officeart/2005/8/layout/hierarchy1"/>
    <dgm:cxn modelId="{EFBD6B59-231B-4201-A31B-6CEE08BE981F}" type="presOf" srcId="{728B7512-F09C-4317-AF05-9F89F48B0795}" destId="{1775A9C6-0093-455E-977A-F352E9445162}" srcOrd="0" destOrd="0" presId="urn:microsoft.com/office/officeart/2005/8/layout/hierarchy1"/>
    <dgm:cxn modelId="{2C10E98A-4AE4-476D-8839-0CC29F66F7D2}" srcId="{D84D32BC-F2A3-46E4-A280-C622D93F68BE}" destId="{F1731DDF-C8EC-4CEC-8976-823A3C30D496}" srcOrd="0" destOrd="0" parTransId="{D03F204D-620B-4BEC-AB44-3A39BEB72A22}" sibTransId="{943144D6-067B-46C6-AA03-FEAB15611CA7}"/>
    <dgm:cxn modelId="{BFD04692-3B11-4EE8-9E38-A3473F203FA7}" type="presOf" srcId="{D03F204D-620B-4BEC-AB44-3A39BEB72A22}" destId="{E49C9836-1729-4B45-8C01-0ECBDCD17503}" srcOrd="0" destOrd="0" presId="urn:microsoft.com/office/officeart/2005/8/layout/hierarchy1"/>
    <dgm:cxn modelId="{D22F5D93-08A1-4501-A98D-5FD4659AF60A}" srcId="{D84D32BC-F2A3-46E4-A280-C622D93F68BE}" destId="{CEA9EC18-605A-4CE3-8374-56B156805491}" srcOrd="1" destOrd="0" parTransId="{435499B7-7772-4B0D-AA64-F5C23D5DCFE0}" sibTransId="{79943C64-6740-4BC6-969B-1937462EA2B3}"/>
    <dgm:cxn modelId="{4117AFA7-1C8C-4D59-9D2F-02F8F60858A6}" type="presOf" srcId="{F1731DDF-C8EC-4CEC-8976-823A3C30D496}" destId="{F7FC7B9A-888A-44C8-BF09-A1677A104BF5}" srcOrd="0" destOrd="0" presId="urn:microsoft.com/office/officeart/2005/8/layout/hierarchy1"/>
    <dgm:cxn modelId="{76DC77BF-09C6-4C7C-8401-7D19FF3F0A2C}" type="presOf" srcId="{CEA9EC18-605A-4CE3-8374-56B156805491}" destId="{DDBA1E72-86C3-444D-81C5-526FF4AB6B84}" srcOrd="0" destOrd="0" presId="urn:microsoft.com/office/officeart/2005/8/layout/hierarchy1"/>
    <dgm:cxn modelId="{F0AEDEEB-C526-4A14-BA80-68C270D255F0}" srcId="{98897FCC-A8B3-4DB7-867B-93D73C1A6A4E}" destId="{D84D32BC-F2A3-46E4-A280-C622D93F68BE}" srcOrd="0" destOrd="0" parTransId="{5E295329-161F-42DA-8044-09BA01315B7D}" sibTransId="{7D2344E2-A1AB-4945-8665-ADFF81E3B9C2}"/>
    <dgm:cxn modelId="{18D70BED-6177-435D-A01E-75C9B1B27C9B}" type="presOf" srcId="{5E295329-161F-42DA-8044-09BA01315B7D}" destId="{900AD5CE-21BC-4F3E-9952-7F9B5A2807D3}" srcOrd="0" destOrd="0" presId="urn:microsoft.com/office/officeart/2005/8/layout/hierarchy1"/>
    <dgm:cxn modelId="{534F4FEE-B810-4C69-B3E0-8B31E01F49D3}" type="presOf" srcId="{5CAF44FB-34FA-42BE-B99E-33E736593129}" destId="{0AB8C35D-3FB7-4A81-9EDA-432134B5E765}" srcOrd="0" destOrd="0" presId="urn:microsoft.com/office/officeart/2005/8/layout/hierarchy1"/>
    <dgm:cxn modelId="{2DBA26FA-37A3-49E2-81C9-51EE6A5C912E}" srcId="{5CAF44FB-34FA-42BE-B99E-33E736593129}" destId="{73531C98-16EB-4F8B-BC8A-CF50259064B1}" srcOrd="0" destOrd="0" parTransId="{BB76C7B1-516D-422B-93FB-6901CC0FC04E}" sibTransId="{47D6D41E-14D4-4D0F-BA0E-0FBE02AA904C}"/>
    <dgm:cxn modelId="{DE32471F-32C9-4716-B850-5DA7D5BA64FE}" type="presParOf" srcId="{0AB8C35D-3FB7-4A81-9EDA-432134B5E765}" destId="{CCA7927A-5911-4A6A-8419-1D478C311500}" srcOrd="0" destOrd="0" presId="urn:microsoft.com/office/officeart/2005/8/layout/hierarchy1"/>
    <dgm:cxn modelId="{3E0ADB29-2E02-4D1A-91E0-85A4681CCAE1}" type="presParOf" srcId="{CCA7927A-5911-4A6A-8419-1D478C311500}" destId="{40E82097-3501-4400-B3AB-A12BCAAF223D}" srcOrd="0" destOrd="0" presId="urn:microsoft.com/office/officeart/2005/8/layout/hierarchy1"/>
    <dgm:cxn modelId="{CFEF740F-3681-4D3A-8AA3-C92150646441}" type="presParOf" srcId="{40E82097-3501-4400-B3AB-A12BCAAF223D}" destId="{5665B95F-A1EE-41B2-B3C6-2B0C5F146312}" srcOrd="0" destOrd="0" presId="urn:microsoft.com/office/officeart/2005/8/layout/hierarchy1"/>
    <dgm:cxn modelId="{ED396D4F-598F-4E93-BDF8-0EC746C9E542}" type="presParOf" srcId="{40E82097-3501-4400-B3AB-A12BCAAF223D}" destId="{E4E0E18F-67C7-4CF8-9A86-7594B2F46B2F}" srcOrd="1" destOrd="0" presId="urn:microsoft.com/office/officeart/2005/8/layout/hierarchy1"/>
    <dgm:cxn modelId="{7806ACDA-63E8-469F-AAF9-C445177A2BBF}" type="presParOf" srcId="{CCA7927A-5911-4A6A-8419-1D478C311500}" destId="{69BC67E6-3ACE-43BD-8525-DAA7C6819905}" srcOrd="1" destOrd="0" presId="urn:microsoft.com/office/officeart/2005/8/layout/hierarchy1"/>
    <dgm:cxn modelId="{29E9EB8F-9C48-49E3-90D2-50DBADD5335A}" type="presParOf" srcId="{69BC67E6-3ACE-43BD-8525-DAA7C6819905}" destId="{1775A9C6-0093-455E-977A-F352E9445162}" srcOrd="0" destOrd="0" presId="urn:microsoft.com/office/officeart/2005/8/layout/hierarchy1"/>
    <dgm:cxn modelId="{2DFFFB46-2735-4DDB-BC8F-E82CFAD270B0}" type="presParOf" srcId="{69BC67E6-3ACE-43BD-8525-DAA7C6819905}" destId="{73B419DE-ACAC-4033-9909-EB4334A66A2E}" srcOrd="1" destOrd="0" presId="urn:microsoft.com/office/officeart/2005/8/layout/hierarchy1"/>
    <dgm:cxn modelId="{FFA7BED3-7BD7-4889-9F0E-F5889220F306}" type="presParOf" srcId="{73B419DE-ACAC-4033-9909-EB4334A66A2E}" destId="{5F0A84F3-E957-4014-B6D5-09705B37018B}" srcOrd="0" destOrd="0" presId="urn:microsoft.com/office/officeart/2005/8/layout/hierarchy1"/>
    <dgm:cxn modelId="{C987D07E-29F9-42F4-8986-B897C55A6AC9}" type="presParOf" srcId="{5F0A84F3-E957-4014-B6D5-09705B37018B}" destId="{125A104B-CF57-43D0-AC46-59770FD68396}" srcOrd="0" destOrd="0" presId="urn:microsoft.com/office/officeart/2005/8/layout/hierarchy1"/>
    <dgm:cxn modelId="{74F4D9CB-D24C-4893-B715-9BD50C664C81}" type="presParOf" srcId="{5F0A84F3-E957-4014-B6D5-09705B37018B}" destId="{7745D433-11F1-4A71-8FAF-BE8998379C08}" srcOrd="1" destOrd="0" presId="urn:microsoft.com/office/officeart/2005/8/layout/hierarchy1"/>
    <dgm:cxn modelId="{7833CA46-D777-481E-9EF1-3291FFBDA0B1}" type="presParOf" srcId="{73B419DE-ACAC-4033-9909-EB4334A66A2E}" destId="{4412EDBE-0F16-4C38-83A6-C8AC77DD8B19}" srcOrd="1" destOrd="0" presId="urn:microsoft.com/office/officeart/2005/8/layout/hierarchy1"/>
    <dgm:cxn modelId="{07BDDDF7-F1AF-40D7-97CE-F62349982E63}" type="presParOf" srcId="{4412EDBE-0F16-4C38-83A6-C8AC77DD8B19}" destId="{900AD5CE-21BC-4F3E-9952-7F9B5A2807D3}" srcOrd="0" destOrd="0" presId="urn:microsoft.com/office/officeart/2005/8/layout/hierarchy1"/>
    <dgm:cxn modelId="{61A8D79A-387E-436A-A05E-41D571871186}" type="presParOf" srcId="{4412EDBE-0F16-4C38-83A6-C8AC77DD8B19}" destId="{76474396-3F7D-42F3-9567-7755ED35CDCD}" srcOrd="1" destOrd="0" presId="urn:microsoft.com/office/officeart/2005/8/layout/hierarchy1"/>
    <dgm:cxn modelId="{74D4656D-1EA5-4C66-9323-63EF4AFB83DE}" type="presParOf" srcId="{76474396-3F7D-42F3-9567-7755ED35CDCD}" destId="{3E8E3904-75B1-49C0-9465-3708CB8E8C2A}" srcOrd="0" destOrd="0" presId="urn:microsoft.com/office/officeart/2005/8/layout/hierarchy1"/>
    <dgm:cxn modelId="{DE72FAAF-812D-4BCF-8E60-CBE470020F09}" type="presParOf" srcId="{3E8E3904-75B1-49C0-9465-3708CB8E8C2A}" destId="{C91DD42A-1EFC-4529-8F01-3028903E84D7}" srcOrd="0" destOrd="0" presId="urn:microsoft.com/office/officeart/2005/8/layout/hierarchy1"/>
    <dgm:cxn modelId="{0CB2A9CE-734A-4CD1-860F-82BB6ECD3FD7}" type="presParOf" srcId="{3E8E3904-75B1-49C0-9465-3708CB8E8C2A}" destId="{C962E95F-E0FC-47A3-889E-8A838A76AECA}" srcOrd="1" destOrd="0" presId="urn:microsoft.com/office/officeart/2005/8/layout/hierarchy1"/>
    <dgm:cxn modelId="{A36B6D98-C25C-4042-AD3F-08E7340E0646}" type="presParOf" srcId="{76474396-3F7D-42F3-9567-7755ED35CDCD}" destId="{80D87664-F323-4232-9D37-23D2D9295DF1}" srcOrd="1" destOrd="0" presId="urn:microsoft.com/office/officeart/2005/8/layout/hierarchy1"/>
    <dgm:cxn modelId="{DA659CC0-6373-47CC-88B2-7B8B512259D9}" type="presParOf" srcId="{80D87664-F323-4232-9D37-23D2D9295DF1}" destId="{E49C9836-1729-4B45-8C01-0ECBDCD17503}" srcOrd="0" destOrd="0" presId="urn:microsoft.com/office/officeart/2005/8/layout/hierarchy1"/>
    <dgm:cxn modelId="{CC161189-66F1-4296-B15C-3B8EC4701327}" type="presParOf" srcId="{80D87664-F323-4232-9D37-23D2D9295DF1}" destId="{6242C097-9A8E-4F68-A6CC-D182714F0E37}" srcOrd="1" destOrd="0" presId="urn:microsoft.com/office/officeart/2005/8/layout/hierarchy1"/>
    <dgm:cxn modelId="{F48DA64D-A555-4F61-895F-F9F33D693FD1}" type="presParOf" srcId="{6242C097-9A8E-4F68-A6CC-D182714F0E37}" destId="{AA8E33AD-C555-4870-BD91-DB7E445D7932}" srcOrd="0" destOrd="0" presId="urn:microsoft.com/office/officeart/2005/8/layout/hierarchy1"/>
    <dgm:cxn modelId="{248A282E-373B-4C96-A3B5-D3C74C1EC27E}" type="presParOf" srcId="{AA8E33AD-C555-4870-BD91-DB7E445D7932}" destId="{A786D5A9-4868-4594-8EC7-8222AFC35CCF}" srcOrd="0" destOrd="0" presId="urn:microsoft.com/office/officeart/2005/8/layout/hierarchy1"/>
    <dgm:cxn modelId="{76DB9415-DC27-4132-8484-20A073D51212}" type="presParOf" srcId="{AA8E33AD-C555-4870-BD91-DB7E445D7932}" destId="{F7FC7B9A-888A-44C8-BF09-A1677A104BF5}" srcOrd="1" destOrd="0" presId="urn:microsoft.com/office/officeart/2005/8/layout/hierarchy1"/>
    <dgm:cxn modelId="{D2EE2FE2-59DE-40BB-9486-4FD9CC22DD23}" type="presParOf" srcId="{6242C097-9A8E-4F68-A6CC-D182714F0E37}" destId="{FF824B00-97E6-4F00-BFF5-ECC8B547ECAB}" srcOrd="1" destOrd="0" presId="urn:microsoft.com/office/officeart/2005/8/layout/hierarchy1"/>
    <dgm:cxn modelId="{4FE6986D-9EC3-4FFE-B981-1E89C53324F8}" type="presParOf" srcId="{80D87664-F323-4232-9D37-23D2D9295DF1}" destId="{EEE5A3E4-405B-4824-954D-9D86523F642A}" srcOrd="2" destOrd="0" presId="urn:microsoft.com/office/officeart/2005/8/layout/hierarchy1"/>
    <dgm:cxn modelId="{B1B07A41-FF0A-47DA-8A7E-B44F5F1339A0}" type="presParOf" srcId="{80D87664-F323-4232-9D37-23D2D9295DF1}" destId="{15BF657F-0649-487E-B880-8ED70BCF7F43}" srcOrd="3" destOrd="0" presId="urn:microsoft.com/office/officeart/2005/8/layout/hierarchy1"/>
    <dgm:cxn modelId="{9AFED2B8-6260-4D18-A2E5-05F4519AA20C}" type="presParOf" srcId="{15BF657F-0649-487E-B880-8ED70BCF7F43}" destId="{0CD871C9-CA4E-42CE-881F-C71BB0259F7F}" srcOrd="0" destOrd="0" presId="urn:microsoft.com/office/officeart/2005/8/layout/hierarchy1"/>
    <dgm:cxn modelId="{66E5725B-2DB6-486B-8778-BCBBE1903634}" type="presParOf" srcId="{0CD871C9-CA4E-42CE-881F-C71BB0259F7F}" destId="{EFB50999-7D64-4130-ACD9-40A1E2FAE2B4}" srcOrd="0" destOrd="0" presId="urn:microsoft.com/office/officeart/2005/8/layout/hierarchy1"/>
    <dgm:cxn modelId="{0CC4551F-6E9B-4393-B421-AC11B2100FAA}" type="presParOf" srcId="{0CD871C9-CA4E-42CE-881F-C71BB0259F7F}" destId="{DDBA1E72-86C3-444D-81C5-526FF4AB6B84}" srcOrd="1" destOrd="0" presId="urn:microsoft.com/office/officeart/2005/8/layout/hierarchy1"/>
    <dgm:cxn modelId="{B51E5F16-0CCC-49F8-AC6B-F3A448A14A08}" type="presParOf" srcId="{15BF657F-0649-487E-B880-8ED70BCF7F43}" destId="{87144661-7403-4EE3-AC5C-C846E11CB22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79FCD9-6FA5-4AFE-8A25-36063755D1D1}">
      <dsp:nvSpPr>
        <dsp:cNvPr id="0" name=""/>
        <dsp:cNvSpPr/>
      </dsp:nvSpPr>
      <dsp:spPr>
        <a:xfrm>
          <a:off x="591020" y="0"/>
          <a:ext cx="6698237" cy="3268761"/>
        </a:xfrm>
        <a:prstGeom prst="rightArrow">
          <a:avLst/>
        </a:prstGeom>
        <a:solidFill>
          <a:schemeClr val="accent5">
            <a:tint val="55000"/>
            <a:hueOff val="0"/>
            <a:satOff val="0"/>
            <a:lumOff val="0"/>
            <a:alphaOff val="0"/>
          </a:schemeClr>
        </a:solidFill>
        <a:ln w="9525" cap="flat" cmpd="sng" algn="ctr">
          <a:solidFill>
            <a:schemeClr val="dk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3D88B60F-6B32-47B0-8FA7-85DD08FF4DFD}">
      <dsp:nvSpPr>
        <dsp:cNvPr id="0" name=""/>
        <dsp:cNvSpPr/>
      </dsp:nvSpPr>
      <dsp:spPr>
        <a:xfrm>
          <a:off x="3463" y="980628"/>
          <a:ext cx="1514106" cy="1307504"/>
        </a:xfrm>
        <a:prstGeom prst="roundRect">
          <a:avLst/>
        </a:prstGeom>
        <a:solidFill>
          <a:schemeClr val="accent5">
            <a:shade val="50000"/>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Traditional Nutrition Labels</a:t>
          </a:r>
          <a:endParaRPr lang="en-US" sz="1800" kern="1200" dirty="0"/>
        </a:p>
      </dsp:txBody>
      <dsp:txXfrm>
        <a:off x="67290" y="1044455"/>
        <a:ext cx="1386452" cy="1179850"/>
      </dsp:txXfrm>
    </dsp:sp>
    <dsp:sp modelId="{5E275786-9829-492A-8116-9BD0D8222E41}">
      <dsp:nvSpPr>
        <dsp:cNvPr id="0" name=""/>
        <dsp:cNvSpPr/>
      </dsp:nvSpPr>
      <dsp:spPr>
        <a:xfrm>
          <a:off x="1593274" y="980628"/>
          <a:ext cx="1514106" cy="1307504"/>
        </a:xfrm>
        <a:prstGeom prst="roundRect">
          <a:avLst/>
        </a:prstGeom>
        <a:solidFill>
          <a:schemeClr val="accent5">
            <a:shade val="50000"/>
            <a:hueOff val="101189"/>
            <a:satOff val="-2238"/>
            <a:lumOff val="16795"/>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Image-Based Food Recognition</a:t>
          </a:r>
          <a:endParaRPr lang="en-US" sz="1800" kern="1200" dirty="0"/>
        </a:p>
      </dsp:txBody>
      <dsp:txXfrm>
        <a:off x="1657101" y="1044455"/>
        <a:ext cx="1386452" cy="1179850"/>
      </dsp:txXfrm>
    </dsp:sp>
    <dsp:sp modelId="{EF61F055-4535-4104-8D05-3C97D75CAB04}">
      <dsp:nvSpPr>
        <dsp:cNvPr id="0" name=""/>
        <dsp:cNvSpPr/>
      </dsp:nvSpPr>
      <dsp:spPr>
        <a:xfrm>
          <a:off x="3183086" y="980628"/>
          <a:ext cx="1514106" cy="1307504"/>
        </a:xfrm>
        <a:prstGeom prst="roundRect">
          <a:avLst/>
        </a:prstGeom>
        <a:solidFill>
          <a:schemeClr val="accent5">
            <a:shade val="50000"/>
            <a:hueOff val="202378"/>
            <a:satOff val="-4476"/>
            <a:lumOff val="3359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Deep Learning Models</a:t>
          </a:r>
          <a:endParaRPr lang="en-US" sz="1800" kern="1200" dirty="0"/>
        </a:p>
      </dsp:txBody>
      <dsp:txXfrm>
        <a:off x="3246913" y="1044455"/>
        <a:ext cx="1386452" cy="1179850"/>
      </dsp:txXfrm>
    </dsp:sp>
    <dsp:sp modelId="{E9D76863-DD30-44F0-AC76-8A759E49402F}">
      <dsp:nvSpPr>
        <dsp:cNvPr id="0" name=""/>
        <dsp:cNvSpPr/>
      </dsp:nvSpPr>
      <dsp:spPr>
        <a:xfrm>
          <a:off x="4772897" y="980628"/>
          <a:ext cx="1514106" cy="1307504"/>
        </a:xfrm>
        <a:prstGeom prst="roundRect">
          <a:avLst/>
        </a:prstGeom>
        <a:solidFill>
          <a:schemeClr val="accent5">
            <a:shade val="50000"/>
            <a:hueOff val="202378"/>
            <a:satOff val="-4476"/>
            <a:lumOff val="3359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t>Hybrid AI Models</a:t>
          </a:r>
        </a:p>
      </dsp:txBody>
      <dsp:txXfrm>
        <a:off x="4836724" y="1044455"/>
        <a:ext cx="1386452" cy="1179850"/>
      </dsp:txXfrm>
    </dsp:sp>
    <dsp:sp modelId="{DDBB748A-B324-4F1C-B082-4D53C92C14FB}">
      <dsp:nvSpPr>
        <dsp:cNvPr id="0" name=""/>
        <dsp:cNvSpPr/>
      </dsp:nvSpPr>
      <dsp:spPr>
        <a:xfrm>
          <a:off x="6362709" y="980628"/>
          <a:ext cx="1514106" cy="1307504"/>
        </a:xfrm>
        <a:prstGeom prst="roundRect">
          <a:avLst/>
        </a:prstGeom>
        <a:solidFill>
          <a:schemeClr val="accent5">
            <a:shade val="50000"/>
            <a:hueOff val="101189"/>
            <a:satOff val="-2238"/>
            <a:lumOff val="16795"/>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AI-Assisted Consumer Decision Making</a:t>
          </a:r>
        </a:p>
      </dsp:txBody>
      <dsp:txXfrm>
        <a:off x="6426536" y="1044455"/>
        <a:ext cx="1386452" cy="11798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E5A3E4-405B-4824-954D-9D86523F642A}">
      <dsp:nvSpPr>
        <dsp:cNvPr id="0" name=""/>
        <dsp:cNvSpPr/>
      </dsp:nvSpPr>
      <dsp:spPr>
        <a:xfrm>
          <a:off x="2983855" y="2872138"/>
          <a:ext cx="705594" cy="335798"/>
        </a:xfrm>
        <a:custGeom>
          <a:avLst/>
          <a:gdLst/>
          <a:ahLst/>
          <a:cxnLst/>
          <a:rect l="0" t="0" r="0" b="0"/>
          <a:pathLst>
            <a:path>
              <a:moveTo>
                <a:pt x="0" y="0"/>
              </a:moveTo>
              <a:lnTo>
                <a:pt x="0" y="228837"/>
              </a:lnTo>
              <a:lnTo>
                <a:pt x="705594" y="228837"/>
              </a:lnTo>
              <a:lnTo>
                <a:pt x="705594" y="3357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9C9836-1729-4B45-8C01-0ECBDCD17503}">
      <dsp:nvSpPr>
        <dsp:cNvPr id="0" name=""/>
        <dsp:cNvSpPr/>
      </dsp:nvSpPr>
      <dsp:spPr>
        <a:xfrm>
          <a:off x="2330743" y="2872138"/>
          <a:ext cx="653111" cy="335798"/>
        </a:xfrm>
        <a:custGeom>
          <a:avLst/>
          <a:gdLst/>
          <a:ahLst/>
          <a:cxnLst/>
          <a:rect l="0" t="0" r="0" b="0"/>
          <a:pathLst>
            <a:path>
              <a:moveTo>
                <a:pt x="653111" y="0"/>
              </a:moveTo>
              <a:lnTo>
                <a:pt x="653111" y="228837"/>
              </a:lnTo>
              <a:lnTo>
                <a:pt x="0" y="228837"/>
              </a:lnTo>
              <a:lnTo>
                <a:pt x="0" y="3357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0AD5CE-21BC-4F3E-9952-7F9B5A2807D3}">
      <dsp:nvSpPr>
        <dsp:cNvPr id="0" name=""/>
        <dsp:cNvSpPr/>
      </dsp:nvSpPr>
      <dsp:spPr>
        <a:xfrm>
          <a:off x="2938135" y="1803162"/>
          <a:ext cx="91440" cy="335798"/>
        </a:xfrm>
        <a:custGeom>
          <a:avLst/>
          <a:gdLst/>
          <a:ahLst/>
          <a:cxnLst/>
          <a:rect l="0" t="0" r="0" b="0"/>
          <a:pathLst>
            <a:path>
              <a:moveTo>
                <a:pt x="45720" y="0"/>
              </a:moveTo>
              <a:lnTo>
                <a:pt x="45720" y="3357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75A9C6-0093-455E-977A-F352E9445162}">
      <dsp:nvSpPr>
        <dsp:cNvPr id="0" name=""/>
        <dsp:cNvSpPr/>
      </dsp:nvSpPr>
      <dsp:spPr>
        <a:xfrm>
          <a:off x="2938135" y="734187"/>
          <a:ext cx="91440" cy="335798"/>
        </a:xfrm>
        <a:custGeom>
          <a:avLst/>
          <a:gdLst/>
          <a:ahLst/>
          <a:cxnLst/>
          <a:rect l="0" t="0" r="0" b="0"/>
          <a:pathLst>
            <a:path>
              <a:moveTo>
                <a:pt x="45720" y="0"/>
              </a:moveTo>
              <a:lnTo>
                <a:pt x="45720" y="3357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65B95F-A1EE-41B2-B3C6-2B0C5F146312}">
      <dsp:nvSpPr>
        <dsp:cNvPr id="0" name=""/>
        <dsp:cNvSpPr/>
      </dsp:nvSpPr>
      <dsp:spPr>
        <a:xfrm>
          <a:off x="2406550" y="1011"/>
          <a:ext cx="1154608" cy="73317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E0E18F-67C7-4CF8-9A86-7594B2F46B2F}">
      <dsp:nvSpPr>
        <dsp:cNvPr id="0" name=""/>
        <dsp:cNvSpPr/>
      </dsp:nvSpPr>
      <dsp:spPr>
        <a:xfrm>
          <a:off x="2534840" y="122886"/>
          <a:ext cx="1154608" cy="73317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i="0" kern="1200" dirty="0"/>
            <a:t>Nutrition Label Reading</a:t>
          </a:r>
          <a:endParaRPr lang="en-US" sz="1300" kern="1200" dirty="0"/>
        </a:p>
      </dsp:txBody>
      <dsp:txXfrm>
        <a:off x="2556314" y="144360"/>
        <a:ext cx="1111660" cy="690228"/>
      </dsp:txXfrm>
    </dsp:sp>
    <dsp:sp modelId="{125A104B-CF57-43D0-AC46-59770FD68396}">
      <dsp:nvSpPr>
        <dsp:cNvPr id="0" name=""/>
        <dsp:cNvSpPr/>
      </dsp:nvSpPr>
      <dsp:spPr>
        <a:xfrm>
          <a:off x="2406550" y="1069986"/>
          <a:ext cx="1154608" cy="73317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45D433-11F1-4A71-8FAF-BE8998379C08}">
      <dsp:nvSpPr>
        <dsp:cNvPr id="0" name=""/>
        <dsp:cNvSpPr/>
      </dsp:nvSpPr>
      <dsp:spPr>
        <a:xfrm>
          <a:off x="2534840" y="1191861"/>
          <a:ext cx="1154608" cy="73317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i="0" kern="1200" dirty="0"/>
            <a:t>Nutrition Awareness</a:t>
          </a:r>
          <a:endParaRPr lang="en-US" sz="1300" kern="1200" dirty="0"/>
        </a:p>
      </dsp:txBody>
      <dsp:txXfrm>
        <a:off x="2556314" y="1213335"/>
        <a:ext cx="1111660" cy="690228"/>
      </dsp:txXfrm>
    </dsp:sp>
    <dsp:sp modelId="{C91DD42A-1EFC-4529-8F01-3028903E84D7}">
      <dsp:nvSpPr>
        <dsp:cNvPr id="0" name=""/>
        <dsp:cNvSpPr/>
      </dsp:nvSpPr>
      <dsp:spPr>
        <a:xfrm>
          <a:off x="2406550" y="2138961"/>
          <a:ext cx="1154608" cy="73317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62E95F-E0FC-47A3-889E-8A838A76AECA}">
      <dsp:nvSpPr>
        <dsp:cNvPr id="0" name=""/>
        <dsp:cNvSpPr/>
      </dsp:nvSpPr>
      <dsp:spPr>
        <a:xfrm>
          <a:off x="2534840" y="2260837"/>
          <a:ext cx="1154608" cy="73317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i="0" kern="1200" dirty="0"/>
            <a:t>Nutrition Awareness</a:t>
          </a:r>
          <a:endParaRPr lang="en-US" sz="1300" kern="1200" dirty="0"/>
        </a:p>
      </dsp:txBody>
      <dsp:txXfrm>
        <a:off x="2556314" y="2282311"/>
        <a:ext cx="1111660" cy="690228"/>
      </dsp:txXfrm>
    </dsp:sp>
    <dsp:sp modelId="{A786D5A9-4868-4594-8EC7-8222AFC35CCF}">
      <dsp:nvSpPr>
        <dsp:cNvPr id="0" name=""/>
        <dsp:cNvSpPr/>
      </dsp:nvSpPr>
      <dsp:spPr>
        <a:xfrm>
          <a:off x="1753439" y="3207936"/>
          <a:ext cx="1154608" cy="73317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FC7B9A-888A-44C8-BF09-A1677A104BF5}">
      <dsp:nvSpPr>
        <dsp:cNvPr id="0" name=""/>
        <dsp:cNvSpPr/>
      </dsp:nvSpPr>
      <dsp:spPr>
        <a:xfrm>
          <a:off x="1881729" y="3329812"/>
          <a:ext cx="1154608" cy="73317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i="0" kern="1200"/>
            <a:t>Trust</a:t>
          </a:r>
        </a:p>
      </dsp:txBody>
      <dsp:txXfrm>
        <a:off x="1903203" y="3351286"/>
        <a:ext cx="1111660" cy="690228"/>
      </dsp:txXfrm>
    </dsp:sp>
    <dsp:sp modelId="{EFB50999-7D64-4130-ACD9-40A1E2FAE2B4}">
      <dsp:nvSpPr>
        <dsp:cNvPr id="0" name=""/>
        <dsp:cNvSpPr/>
      </dsp:nvSpPr>
      <dsp:spPr>
        <a:xfrm>
          <a:off x="3164627" y="3207936"/>
          <a:ext cx="1049643" cy="73317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BA1E72-86C3-444D-81C5-526FF4AB6B84}">
      <dsp:nvSpPr>
        <dsp:cNvPr id="0" name=""/>
        <dsp:cNvSpPr/>
      </dsp:nvSpPr>
      <dsp:spPr>
        <a:xfrm>
          <a:off x="3292917" y="3329812"/>
          <a:ext cx="1049643" cy="73317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i="0" kern="1200" dirty="0"/>
            <a:t>Transparency</a:t>
          </a:r>
        </a:p>
      </dsp:txBody>
      <dsp:txXfrm>
        <a:off x="3314391" y="3351286"/>
        <a:ext cx="1006695" cy="69022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b="1" dirty="0">
                <a:ln w="10160">
                  <a:solidFill>
                    <a:schemeClr val="accent5">
                      <a:lumMod val="20000"/>
                      <a:lumOff val="80000"/>
                    </a:schemeClr>
                  </a:solidFill>
                  <a:prstDash val="solid"/>
                </a:ln>
                <a:solidFill>
                  <a:sysClr val="windowText" lastClr="000000"/>
                </a:solidFill>
                <a:effectLst>
                  <a:outerShdw blurRad="38100" dist="22860" dir="5400000" algn="tl" rotWithShape="0">
                    <a:srgbClr val="000000">
                      <a:alpha val="30000"/>
                    </a:srgbClr>
                  </a:outerShdw>
                </a:effectLst>
                <a:latin typeface="Times New Roman" panose="02020603050405020304" pitchFamily="18" charset="0"/>
                <a:cs typeface="Times New Roman" panose="02020603050405020304" pitchFamily="18" charset="0"/>
              </a:rPr>
              <a:t>AI-Driven Nutrient Prediction for Healthier Food Choices</a:t>
            </a:r>
          </a:p>
        </p:txBody>
      </p:sp>
      <p:sp>
        <p:nvSpPr>
          <p:cNvPr id="3" name="Subtitle 2"/>
          <p:cNvSpPr>
            <a:spLocks noGrp="1"/>
          </p:cNvSpPr>
          <p:nvPr>
            <p:ph type="subTitle" idx="1"/>
          </p:nvPr>
        </p:nvSpPr>
        <p:spPr>
          <a:xfrm>
            <a:off x="1371600" y="3886200"/>
            <a:ext cx="6400800" cy="829638"/>
          </a:xfrm>
        </p:spPr>
        <p:txBody>
          <a:bodyPr>
            <a:normAutofit/>
          </a:bodyPr>
          <a:lstStyle/>
          <a:p>
            <a:r>
              <a:rPr lang="en-US" sz="2000" dirty="0"/>
              <a:t>HAN CHOU LIN</a:t>
            </a:r>
          </a:p>
          <a:p>
            <a:r>
              <a:rPr lang="en-US" sz="2000" dirty="0"/>
              <a:t>GARGI GHOSH</a:t>
            </a:r>
            <a:endParaRPr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5352" y="1305709"/>
            <a:ext cx="8229600" cy="1776440"/>
          </a:xfrm>
        </p:spPr>
        <p:txBody>
          <a:bodyPr>
            <a:normAutofit fontScale="85000" lnSpcReduction="20000"/>
          </a:bodyPr>
          <a:lstStyle/>
          <a:p>
            <a:pPr>
              <a:defRPr sz="2400"/>
            </a:pPr>
            <a:r>
              <a:rPr sz="2600" dirty="0"/>
              <a:t>Nutrition labels are often ignored</a:t>
            </a:r>
          </a:p>
          <a:p>
            <a:pPr>
              <a:defRPr sz="2400"/>
            </a:pPr>
            <a:r>
              <a:rPr sz="2600" dirty="0"/>
              <a:t>AI can estimate nutrients from food images</a:t>
            </a:r>
          </a:p>
          <a:p>
            <a:pPr>
              <a:defRPr sz="2400"/>
            </a:pPr>
            <a:r>
              <a:rPr sz="2600" dirty="0"/>
              <a:t>Goal: improve healthier food choices</a:t>
            </a:r>
            <a:endParaRPr lang="en-US" sz="2600" dirty="0"/>
          </a:p>
          <a:p>
            <a:r>
              <a:rPr lang="en-US" sz="2600" dirty="0"/>
              <a:t>Existing labels fail to influence purchasing decisions</a:t>
            </a:r>
          </a:p>
          <a:p>
            <a:r>
              <a:rPr lang="en-US" sz="2600" dirty="0"/>
              <a:t>AI can automatically estimate nutrients from food images</a:t>
            </a:r>
          </a:p>
          <a:p>
            <a:pPr>
              <a:defRPr sz="2400"/>
            </a:pPr>
            <a:endParaRPr dirty="0"/>
          </a:p>
        </p:txBody>
      </p:sp>
      <p:sp>
        <p:nvSpPr>
          <p:cNvPr id="6" name="Title 1">
            <a:extLst>
              <a:ext uri="{FF2B5EF4-FFF2-40B4-BE49-F238E27FC236}">
                <a16:creationId xmlns:a16="http://schemas.microsoft.com/office/drawing/2014/main" id="{E51907B9-ED7D-FEE6-ECD6-97BA02D81EAF}"/>
              </a:ext>
            </a:extLst>
          </p:cNvPr>
          <p:cNvSpPr txBox="1">
            <a:spLocks/>
          </p:cNvSpPr>
          <p:nvPr/>
        </p:nvSpPr>
        <p:spPr>
          <a:xfrm>
            <a:off x="0" y="325618"/>
            <a:ext cx="8229600" cy="79861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b="1" dirty="0">
                <a:solidFill>
                  <a:schemeClr val="tx2"/>
                </a:solidFill>
                <a:latin typeface="Times New Roman" panose="02020603050405020304" pitchFamily="18" charset="0"/>
                <a:cs typeface="Times New Roman" panose="02020603050405020304" pitchFamily="18" charset="0"/>
              </a:rPr>
              <a:t>MOTIVATION</a:t>
            </a:r>
          </a:p>
        </p:txBody>
      </p:sp>
      <p:sp>
        <p:nvSpPr>
          <p:cNvPr id="9" name="Thought Bubble: Cloud 8">
            <a:extLst>
              <a:ext uri="{FF2B5EF4-FFF2-40B4-BE49-F238E27FC236}">
                <a16:creationId xmlns:a16="http://schemas.microsoft.com/office/drawing/2014/main" id="{8A2B933B-79E3-C198-9AC2-78473D775ED0}"/>
              </a:ext>
            </a:extLst>
          </p:cNvPr>
          <p:cNvSpPr/>
          <p:nvPr/>
        </p:nvSpPr>
        <p:spPr>
          <a:xfrm>
            <a:off x="6344293" y="217340"/>
            <a:ext cx="2224355" cy="1357375"/>
          </a:xfrm>
          <a:prstGeom prst="cloudCallout">
            <a:avLst>
              <a:gd name="adj1" fmla="val -89655"/>
              <a:gd name="adj2" fmla="val -10921"/>
            </a:avLst>
          </a:prstGeom>
        </p:spPr>
        <p:style>
          <a:lnRef idx="2">
            <a:schemeClr val="accent5"/>
          </a:lnRef>
          <a:fillRef idx="1">
            <a:schemeClr val="lt1"/>
          </a:fillRef>
          <a:effectRef idx="0">
            <a:schemeClr val="accent5"/>
          </a:effectRef>
          <a:fontRef idx="minor">
            <a:schemeClr val="dk1"/>
          </a:fontRef>
        </p:style>
        <p:txBody>
          <a:bodyPr rtlCol="0" anchor="ctr"/>
          <a:lstStyle/>
          <a:p>
            <a:r>
              <a:rPr lang="en-US" b="1" dirty="0"/>
              <a:t>Why is this research important?</a:t>
            </a:r>
          </a:p>
        </p:txBody>
      </p:sp>
      <p:graphicFrame>
        <p:nvGraphicFramePr>
          <p:cNvPr id="12" name="Diagram 11">
            <a:extLst>
              <a:ext uri="{FF2B5EF4-FFF2-40B4-BE49-F238E27FC236}">
                <a16:creationId xmlns:a16="http://schemas.microsoft.com/office/drawing/2014/main" id="{45A6F52B-EC33-0822-4A3C-2465022628EC}"/>
              </a:ext>
            </a:extLst>
          </p:cNvPr>
          <p:cNvGraphicFramePr/>
          <p:nvPr>
            <p:extLst>
              <p:ext uri="{D42A27DB-BD31-4B8C-83A1-F6EECF244321}">
                <p14:modId xmlns:p14="http://schemas.microsoft.com/office/powerpoint/2010/main" val="2290181595"/>
              </p:ext>
            </p:extLst>
          </p:nvPr>
        </p:nvGraphicFramePr>
        <p:xfrm>
          <a:off x="575351" y="3263621"/>
          <a:ext cx="7880279" cy="32687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6433DF-D43B-5D83-B51E-85A7BFBFBF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760359"/>
            <a:ext cx="8005059" cy="4502412"/>
          </a:xfrm>
          <a:prstGeom prst="rect">
            <a:avLst/>
          </a:prstGeom>
        </p:spPr>
      </p:pic>
      <p:sp>
        <p:nvSpPr>
          <p:cNvPr id="5" name="Title 1">
            <a:extLst>
              <a:ext uri="{FF2B5EF4-FFF2-40B4-BE49-F238E27FC236}">
                <a16:creationId xmlns:a16="http://schemas.microsoft.com/office/drawing/2014/main" id="{4F17C1DA-DEE0-C1CD-9422-D2D87C07790F}"/>
              </a:ext>
            </a:extLst>
          </p:cNvPr>
          <p:cNvSpPr>
            <a:spLocks noGrp="1"/>
          </p:cNvSpPr>
          <p:nvPr>
            <p:ph type="title"/>
          </p:nvPr>
        </p:nvSpPr>
        <p:spPr>
          <a:xfrm>
            <a:off x="457200" y="0"/>
            <a:ext cx="8229600" cy="896126"/>
          </a:xfrm>
        </p:spPr>
        <p:txBody>
          <a:bodyPr>
            <a:normAutofit/>
          </a:bodyPr>
          <a:lstStyle/>
          <a:p>
            <a:r>
              <a:rPr lang="en-US" sz="3200" b="1" dirty="0">
                <a:solidFill>
                  <a:schemeClr val="tx2"/>
                </a:solidFill>
                <a:latin typeface="Times New Roman" panose="02020603050405020304" pitchFamily="18" charset="0"/>
                <a:cs typeface="Times New Roman" panose="02020603050405020304" pitchFamily="18" charset="0"/>
              </a:rPr>
              <a:t>PIPELINE</a:t>
            </a:r>
            <a:endParaRPr sz="3200" b="1" dirty="0">
              <a:solidFill>
                <a:schemeClr val="tx2"/>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A90345D-5569-B78E-9825-3CC6779D4FE9}"/>
              </a:ext>
            </a:extLst>
          </p:cNvPr>
          <p:cNvSpPr txBox="1"/>
          <p:nvPr/>
        </p:nvSpPr>
        <p:spPr>
          <a:xfrm>
            <a:off x="147152" y="5435921"/>
            <a:ext cx="8849696" cy="1323439"/>
          </a:xfrm>
          <a:prstGeom prst="rect">
            <a:avLst/>
          </a:prstGeom>
          <a:noFill/>
        </p:spPr>
        <p:txBody>
          <a:bodyPr wrap="square" rtlCol="0">
            <a:spAutoFit/>
          </a:bodyPr>
          <a:lstStyle/>
          <a:p>
            <a:pPr algn="just"/>
            <a:r>
              <a:rPr lang="en-US" sz="1600" dirty="0"/>
              <a:t>Our research pipeline consists of three major stages. First, food images are preprocessed and used to train several deep learning models. Second, the best-performing features are combined using our Hybrid architecture to generate accurate nutrient predictions. Finally, these predictions are evaluated not only using performance metrics but also through consumer behavior analysis to understand how AI-generated nutritional information influences healthier purchasing decisions</a:t>
            </a:r>
          </a:p>
        </p:txBody>
      </p:sp>
    </p:spTree>
    <p:extLst>
      <p:ext uri="{BB962C8B-B14F-4D97-AF65-F5344CB8AC3E}">
        <p14:creationId xmlns:p14="http://schemas.microsoft.com/office/powerpoint/2010/main" val="2156491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9522" y="806423"/>
            <a:ext cx="8851187" cy="4525963"/>
          </a:xfrm>
        </p:spPr>
        <p:txBody>
          <a:bodyPr>
            <a:normAutofit/>
          </a:bodyPr>
          <a:lstStyle/>
          <a:p>
            <a:pPr>
              <a:defRPr sz="2400"/>
            </a:pPr>
            <a:r>
              <a:rPr sz="1800" dirty="0"/>
              <a:t>Models: ResNet18/34, EfficientNet-B0/B3, MobileNetV3-Large, Hybrid</a:t>
            </a:r>
          </a:p>
          <a:p>
            <a:pPr>
              <a:defRPr sz="2400"/>
            </a:pPr>
            <a:r>
              <a:rPr sz="1800" dirty="0"/>
              <a:t>Feature fusion of MobileNetV3 + EfficientNet-B0</a:t>
            </a:r>
          </a:p>
        </p:txBody>
      </p:sp>
      <p:graphicFrame>
        <p:nvGraphicFramePr>
          <p:cNvPr id="5" name="Table 4">
            <a:extLst>
              <a:ext uri="{FF2B5EF4-FFF2-40B4-BE49-F238E27FC236}">
                <a16:creationId xmlns:a16="http://schemas.microsoft.com/office/drawing/2014/main" id="{6A95C4DB-1688-2AB6-EB3E-9C0E0D78BD18}"/>
              </a:ext>
            </a:extLst>
          </p:cNvPr>
          <p:cNvGraphicFramePr>
            <a:graphicFrameLocks noGrp="1"/>
          </p:cNvGraphicFramePr>
          <p:nvPr>
            <p:extLst>
              <p:ext uri="{D42A27DB-BD31-4B8C-83A1-F6EECF244321}">
                <p14:modId xmlns:p14="http://schemas.microsoft.com/office/powerpoint/2010/main" val="1568729083"/>
              </p:ext>
            </p:extLst>
          </p:nvPr>
        </p:nvGraphicFramePr>
        <p:xfrm>
          <a:off x="256854" y="1702549"/>
          <a:ext cx="8537826" cy="4349027"/>
        </p:xfrm>
        <a:graphic>
          <a:graphicData uri="http://schemas.openxmlformats.org/drawingml/2006/table">
            <a:tbl>
              <a:tblPr firstRow="1" firstCol="1" bandRow="1">
                <a:tableStyleId>{5C22544A-7EE6-4342-B048-85BDC9FD1C3A}</a:tableStyleId>
              </a:tblPr>
              <a:tblGrid>
                <a:gridCol w="1559007">
                  <a:extLst>
                    <a:ext uri="{9D8B030D-6E8A-4147-A177-3AD203B41FA5}">
                      <a16:colId xmlns:a16="http://schemas.microsoft.com/office/drawing/2014/main" val="3090151425"/>
                    </a:ext>
                  </a:extLst>
                </a:gridCol>
                <a:gridCol w="1039907">
                  <a:extLst>
                    <a:ext uri="{9D8B030D-6E8A-4147-A177-3AD203B41FA5}">
                      <a16:colId xmlns:a16="http://schemas.microsoft.com/office/drawing/2014/main" val="4067892371"/>
                    </a:ext>
                  </a:extLst>
                </a:gridCol>
                <a:gridCol w="971604">
                  <a:extLst>
                    <a:ext uri="{9D8B030D-6E8A-4147-A177-3AD203B41FA5}">
                      <a16:colId xmlns:a16="http://schemas.microsoft.com/office/drawing/2014/main" val="2903600301"/>
                    </a:ext>
                  </a:extLst>
                </a:gridCol>
                <a:gridCol w="925501">
                  <a:extLst>
                    <a:ext uri="{9D8B030D-6E8A-4147-A177-3AD203B41FA5}">
                      <a16:colId xmlns:a16="http://schemas.microsoft.com/office/drawing/2014/main" val="1773139612"/>
                    </a:ext>
                  </a:extLst>
                </a:gridCol>
                <a:gridCol w="963067">
                  <a:extLst>
                    <a:ext uri="{9D8B030D-6E8A-4147-A177-3AD203B41FA5}">
                      <a16:colId xmlns:a16="http://schemas.microsoft.com/office/drawing/2014/main" val="241204698"/>
                    </a:ext>
                  </a:extLst>
                </a:gridCol>
                <a:gridCol w="886226">
                  <a:extLst>
                    <a:ext uri="{9D8B030D-6E8A-4147-A177-3AD203B41FA5}">
                      <a16:colId xmlns:a16="http://schemas.microsoft.com/office/drawing/2014/main" val="4237389441"/>
                    </a:ext>
                  </a:extLst>
                </a:gridCol>
                <a:gridCol w="1212371">
                  <a:extLst>
                    <a:ext uri="{9D8B030D-6E8A-4147-A177-3AD203B41FA5}">
                      <a16:colId xmlns:a16="http://schemas.microsoft.com/office/drawing/2014/main" val="1107977623"/>
                    </a:ext>
                  </a:extLst>
                </a:gridCol>
                <a:gridCol w="980143">
                  <a:extLst>
                    <a:ext uri="{9D8B030D-6E8A-4147-A177-3AD203B41FA5}">
                      <a16:colId xmlns:a16="http://schemas.microsoft.com/office/drawing/2014/main" val="4075236700"/>
                    </a:ext>
                  </a:extLst>
                </a:gridCol>
              </a:tblGrid>
              <a:tr h="835815">
                <a:tc>
                  <a:txBody>
                    <a:bodyPr/>
                    <a:lstStyle/>
                    <a:p>
                      <a:pPr indent="144145" algn="just" hangingPunct="0">
                        <a:lnSpc>
                          <a:spcPts val="1200"/>
                        </a:lnSpc>
                        <a:buNone/>
                      </a:pPr>
                      <a:r>
                        <a:rPr lang="en-US" sz="1400" kern="100" dirty="0">
                          <a:effectLst/>
                        </a:rPr>
                        <a:t>Model</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Calories </a:t>
                      </a:r>
                      <a:r>
                        <a:rPr lang="en-US" sz="1400" kern="100" dirty="0" err="1">
                          <a:effectLst/>
                        </a:rPr>
                        <a:t>mAP</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Mass </a:t>
                      </a:r>
                      <a:r>
                        <a:rPr lang="en-US" sz="1400" kern="100" dirty="0" err="1">
                          <a:effectLst/>
                        </a:rPr>
                        <a:t>mAP</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Fat </a:t>
                      </a:r>
                      <a:r>
                        <a:rPr lang="en-US" sz="1400" kern="100" dirty="0" err="1">
                          <a:effectLst/>
                        </a:rPr>
                        <a:t>mAP</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Carb </a:t>
                      </a:r>
                      <a:r>
                        <a:rPr lang="en-US" sz="1400" kern="100" dirty="0" err="1">
                          <a:effectLst/>
                        </a:rPr>
                        <a:t>mAP</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Protein</a:t>
                      </a:r>
                    </a:p>
                    <a:p>
                      <a:pPr indent="144145" algn="ctr" hangingPunct="0">
                        <a:lnSpc>
                          <a:spcPts val="1200"/>
                        </a:lnSpc>
                        <a:buNone/>
                      </a:pPr>
                      <a:r>
                        <a:rPr lang="en-US" sz="1400" kern="100" dirty="0" err="1">
                          <a:effectLst/>
                        </a:rPr>
                        <a:t>mAP</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err="1">
                          <a:effectLst/>
                        </a:rPr>
                        <a:t>mAP</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Mean </a:t>
                      </a:r>
                      <a:r>
                        <a:rPr lang="en-US" sz="1400" kern="100" dirty="0" err="1">
                          <a:effectLst/>
                        </a:rPr>
                        <a:t>mAP</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200476112"/>
                  </a:ext>
                </a:extLst>
              </a:tr>
              <a:tr h="715122">
                <a:tc>
                  <a:txBody>
                    <a:bodyPr/>
                    <a:lstStyle/>
                    <a:p>
                      <a:pPr indent="144145" algn="ctr" hangingPunct="0">
                        <a:lnSpc>
                          <a:spcPts val="1200"/>
                        </a:lnSpc>
                        <a:buNone/>
                      </a:pPr>
                      <a:r>
                        <a:rPr lang="en-US" sz="1400" kern="100" dirty="0">
                          <a:effectLst/>
                        </a:rPr>
                        <a:t>Resnet18</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0.8574</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0.8903</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0.8221</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0.7539</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0.8495</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0.8346601</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0.8347</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43191463"/>
                  </a:ext>
                </a:extLst>
              </a:tr>
              <a:tr h="715122">
                <a:tc>
                  <a:txBody>
                    <a:bodyPr/>
                    <a:lstStyle/>
                    <a:p>
                      <a:pPr indent="144145" algn="ctr" hangingPunct="0">
                        <a:lnSpc>
                          <a:spcPts val="1200"/>
                        </a:lnSpc>
                        <a:buNone/>
                      </a:pPr>
                      <a:r>
                        <a:rPr lang="en-US" sz="1400" kern="100" dirty="0">
                          <a:effectLst/>
                        </a:rPr>
                        <a:t>Resnet 34</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0.8567</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0.8972</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0.7886</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0.7590</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0.8392</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0.8281043</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0.8281</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321537821"/>
                  </a:ext>
                </a:extLst>
              </a:tr>
              <a:tr h="683923">
                <a:tc>
                  <a:txBody>
                    <a:bodyPr/>
                    <a:lstStyle/>
                    <a:p>
                      <a:pPr indent="144145" algn="ctr" hangingPunct="0">
                        <a:lnSpc>
                          <a:spcPts val="1200"/>
                        </a:lnSpc>
                        <a:buNone/>
                      </a:pPr>
                      <a:r>
                        <a:rPr lang="en-US" sz="1400" kern="100" dirty="0" err="1">
                          <a:effectLst/>
                        </a:rPr>
                        <a:t>EfficientNet</a:t>
                      </a:r>
                      <a:r>
                        <a:rPr lang="en-US" sz="1400" kern="100" dirty="0">
                          <a:effectLst/>
                        </a:rPr>
                        <a:t> b0</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0.8450</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0.8536</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0.8492</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0.7862</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0.8610</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0.8390277</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0.8390</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484001131"/>
                  </a:ext>
                </a:extLst>
              </a:tr>
              <a:tr h="683923">
                <a:tc>
                  <a:txBody>
                    <a:bodyPr/>
                    <a:lstStyle/>
                    <a:p>
                      <a:pPr indent="144145" algn="ctr" hangingPunct="0">
                        <a:lnSpc>
                          <a:spcPts val="1200"/>
                        </a:lnSpc>
                        <a:buNone/>
                      </a:pPr>
                      <a:r>
                        <a:rPr lang="en-US" sz="1400" kern="100">
                          <a:effectLst/>
                        </a:rPr>
                        <a:t>EfficientNet b3</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0.8324</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0.8615</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0.8426</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0.7973</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0.8905</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0.8448587</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0.8449</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116594914"/>
                  </a:ext>
                </a:extLst>
              </a:tr>
              <a:tr h="715122">
                <a:tc>
                  <a:txBody>
                    <a:bodyPr/>
                    <a:lstStyle/>
                    <a:p>
                      <a:pPr indent="144145" algn="ctr" hangingPunct="0">
                        <a:lnSpc>
                          <a:spcPts val="1200"/>
                        </a:lnSpc>
                        <a:buNone/>
                      </a:pPr>
                      <a:r>
                        <a:rPr lang="en-US" sz="1400" kern="100">
                          <a:effectLst/>
                        </a:rPr>
                        <a:t>MobileNetV3-large-100</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0.8771</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0.9020</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a:effectLst/>
                        </a:rPr>
                        <a:t>0.8850</a:t>
                      </a:r>
                      <a:endParaRPr lang="en-US"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0.7980</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0.8941</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0.8712518</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400" kern="100" dirty="0">
                          <a:effectLst/>
                        </a:rPr>
                        <a:t>0.8713</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01997234"/>
                  </a:ext>
                </a:extLst>
              </a:tr>
            </a:tbl>
          </a:graphicData>
        </a:graphic>
      </p:graphicFrame>
      <p:graphicFrame>
        <p:nvGraphicFramePr>
          <p:cNvPr id="6" name="Table 5">
            <a:extLst>
              <a:ext uri="{FF2B5EF4-FFF2-40B4-BE49-F238E27FC236}">
                <a16:creationId xmlns:a16="http://schemas.microsoft.com/office/drawing/2014/main" id="{EF79C6BA-F196-F3FC-9C64-39E5CB09FEBA}"/>
              </a:ext>
            </a:extLst>
          </p:cNvPr>
          <p:cNvGraphicFramePr>
            <a:graphicFrameLocks noGrp="1"/>
          </p:cNvGraphicFramePr>
          <p:nvPr>
            <p:extLst>
              <p:ext uri="{D42A27DB-BD31-4B8C-83A1-F6EECF244321}">
                <p14:modId xmlns:p14="http://schemas.microsoft.com/office/powerpoint/2010/main" val="2930913099"/>
              </p:ext>
            </p:extLst>
          </p:nvPr>
        </p:nvGraphicFramePr>
        <p:xfrm>
          <a:off x="256855" y="6034929"/>
          <a:ext cx="8537825" cy="719190"/>
        </p:xfrm>
        <a:graphic>
          <a:graphicData uri="http://schemas.openxmlformats.org/drawingml/2006/table">
            <a:tbl>
              <a:tblPr firstRow="1" firstCol="1" bandRow="1">
                <a:tableStyleId>{5C22544A-7EE6-4342-B048-85BDC9FD1C3A}</a:tableStyleId>
              </a:tblPr>
              <a:tblGrid>
                <a:gridCol w="1559007">
                  <a:extLst>
                    <a:ext uri="{9D8B030D-6E8A-4147-A177-3AD203B41FA5}">
                      <a16:colId xmlns:a16="http://schemas.microsoft.com/office/drawing/2014/main" val="3117584085"/>
                    </a:ext>
                  </a:extLst>
                </a:gridCol>
                <a:gridCol w="1039907">
                  <a:extLst>
                    <a:ext uri="{9D8B030D-6E8A-4147-A177-3AD203B41FA5}">
                      <a16:colId xmlns:a16="http://schemas.microsoft.com/office/drawing/2014/main" val="4005320753"/>
                    </a:ext>
                  </a:extLst>
                </a:gridCol>
                <a:gridCol w="971604">
                  <a:extLst>
                    <a:ext uri="{9D8B030D-6E8A-4147-A177-3AD203B41FA5}">
                      <a16:colId xmlns:a16="http://schemas.microsoft.com/office/drawing/2014/main" val="1885533294"/>
                    </a:ext>
                  </a:extLst>
                </a:gridCol>
                <a:gridCol w="925501">
                  <a:extLst>
                    <a:ext uri="{9D8B030D-6E8A-4147-A177-3AD203B41FA5}">
                      <a16:colId xmlns:a16="http://schemas.microsoft.com/office/drawing/2014/main" val="3265959480"/>
                    </a:ext>
                  </a:extLst>
                </a:gridCol>
                <a:gridCol w="963067">
                  <a:extLst>
                    <a:ext uri="{9D8B030D-6E8A-4147-A177-3AD203B41FA5}">
                      <a16:colId xmlns:a16="http://schemas.microsoft.com/office/drawing/2014/main" val="458173206"/>
                    </a:ext>
                  </a:extLst>
                </a:gridCol>
                <a:gridCol w="886226">
                  <a:extLst>
                    <a:ext uri="{9D8B030D-6E8A-4147-A177-3AD203B41FA5}">
                      <a16:colId xmlns:a16="http://schemas.microsoft.com/office/drawing/2014/main" val="1426767784"/>
                    </a:ext>
                  </a:extLst>
                </a:gridCol>
                <a:gridCol w="1212371">
                  <a:extLst>
                    <a:ext uri="{9D8B030D-6E8A-4147-A177-3AD203B41FA5}">
                      <a16:colId xmlns:a16="http://schemas.microsoft.com/office/drawing/2014/main" val="2049311139"/>
                    </a:ext>
                  </a:extLst>
                </a:gridCol>
                <a:gridCol w="980142">
                  <a:extLst>
                    <a:ext uri="{9D8B030D-6E8A-4147-A177-3AD203B41FA5}">
                      <a16:colId xmlns:a16="http://schemas.microsoft.com/office/drawing/2014/main" val="1059403503"/>
                    </a:ext>
                  </a:extLst>
                </a:gridCol>
              </a:tblGrid>
              <a:tr h="719190">
                <a:tc>
                  <a:txBody>
                    <a:bodyPr/>
                    <a:lstStyle/>
                    <a:p>
                      <a:pPr indent="144145" algn="ctr" hangingPunct="0">
                        <a:lnSpc>
                          <a:spcPts val="1200"/>
                        </a:lnSpc>
                        <a:buNone/>
                      </a:pPr>
                      <a:r>
                        <a:rPr lang="en-US" sz="1600" kern="100" dirty="0">
                          <a:effectLst/>
                        </a:rPr>
                        <a:t>Hybrid Model</a:t>
                      </a:r>
                      <a:endPar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600" kern="100" dirty="0">
                          <a:effectLst/>
                        </a:rPr>
                        <a:t>0.8847</a:t>
                      </a:r>
                      <a:endPar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600" kern="100" dirty="0">
                          <a:effectLst/>
                        </a:rPr>
                        <a:t>0.9284</a:t>
                      </a:r>
                      <a:endPar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600" kern="100" dirty="0">
                          <a:effectLst/>
                        </a:rPr>
                        <a:t>0.8795</a:t>
                      </a:r>
                      <a:endPar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600" kern="100" dirty="0">
                          <a:effectLst/>
                        </a:rPr>
                        <a:t>0.8434</a:t>
                      </a:r>
                      <a:endPar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600" kern="100" dirty="0">
                          <a:effectLst/>
                        </a:rPr>
                        <a:t>0.9276</a:t>
                      </a:r>
                      <a:endPar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600" kern="100" dirty="0">
                          <a:effectLst/>
                        </a:rPr>
                        <a:t>0.8871221</a:t>
                      </a:r>
                      <a:endPar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144145" algn="ctr" hangingPunct="0">
                        <a:lnSpc>
                          <a:spcPts val="1200"/>
                        </a:lnSpc>
                        <a:buNone/>
                      </a:pPr>
                      <a:r>
                        <a:rPr lang="en-US" sz="1600" kern="100" dirty="0">
                          <a:effectLst/>
                        </a:rPr>
                        <a:t>0.8826</a:t>
                      </a:r>
                      <a:endPar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36018508"/>
                  </a:ext>
                </a:extLst>
              </a:tr>
            </a:tbl>
          </a:graphicData>
        </a:graphic>
      </p:graphicFrame>
      <p:sp>
        <p:nvSpPr>
          <p:cNvPr id="7" name="Title 1">
            <a:extLst>
              <a:ext uri="{FF2B5EF4-FFF2-40B4-BE49-F238E27FC236}">
                <a16:creationId xmlns:a16="http://schemas.microsoft.com/office/drawing/2014/main" id="{5BE368F3-D463-0C62-2942-67FF3D4BCC25}"/>
              </a:ext>
            </a:extLst>
          </p:cNvPr>
          <p:cNvSpPr txBox="1">
            <a:spLocks/>
          </p:cNvSpPr>
          <p:nvPr/>
        </p:nvSpPr>
        <p:spPr>
          <a:xfrm>
            <a:off x="410967" y="87232"/>
            <a:ext cx="8229600" cy="79861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dirty="0">
                <a:solidFill>
                  <a:schemeClr val="tx2"/>
                </a:solidFill>
                <a:latin typeface="Times New Roman" panose="02020603050405020304" pitchFamily="18" charset="0"/>
                <a:cs typeface="Times New Roman" panose="02020603050405020304" pitchFamily="18" charset="0"/>
              </a:rPr>
              <a:t>RESULTS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36B3F9-CFB6-C493-C88A-445C540296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9214" y="1394103"/>
            <a:ext cx="7465572" cy="3814894"/>
          </a:xfrm>
          <a:prstGeom prst="rect">
            <a:avLst/>
          </a:prstGeom>
        </p:spPr>
      </p:pic>
      <p:sp>
        <p:nvSpPr>
          <p:cNvPr id="15" name="TextBox 14">
            <a:extLst>
              <a:ext uri="{FF2B5EF4-FFF2-40B4-BE49-F238E27FC236}">
                <a16:creationId xmlns:a16="http://schemas.microsoft.com/office/drawing/2014/main" id="{A54F1DC5-6375-8427-B3FC-6964F192D751}"/>
              </a:ext>
            </a:extLst>
          </p:cNvPr>
          <p:cNvSpPr txBox="1"/>
          <p:nvPr/>
        </p:nvSpPr>
        <p:spPr>
          <a:xfrm>
            <a:off x="701211" y="5377439"/>
            <a:ext cx="7741578" cy="1200329"/>
          </a:xfrm>
          <a:prstGeom prst="rect">
            <a:avLst/>
          </a:prstGeom>
          <a:noFill/>
        </p:spPr>
        <p:txBody>
          <a:bodyPr wrap="square">
            <a:spAutoFit/>
          </a:bodyPr>
          <a:lstStyle/>
          <a:p>
            <a:pPr indent="144145" algn="ctr" hangingPunct="0">
              <a:buNone/>
            </a:pPr>
            <a:r>
              <a:rPr lang="en-US" dirty="0">
                <a:latin typeface="Times New Roman" panose="02020603050405020304" pitchFamily="18" charset="0"/>
                <a:cs typeface="Times New Roman" panose="02020603050405020304" pitchFamily="18" charset="0"/>
              </a:rPr>
              <a:t>Nutrient density of </a:t>
            </a:r>
            <a:r>
              <a:rPr lang="en-US" dirty="0" err="1">
                <a:latin typeface="Times New Roman" panose="02020603050405020304" pitchFamily="18" charset="0"/>
                <a:cs typeface="Times New Roman" panose="02020603050405020304" pitchFamily="18" charset="0"/>
              </a:rPr>
              <a:t>fibre</a:t>
            </a:r>
            <a:r>
              <a:rPr lang="en-US" dirty="0">
                <a:latin typeface="Times New Roman" panose="02020603050405020304" pitchFamily="18" charset="0"/>
                <a:cs typeface="Times New Roman" panose="02020603050405020304" pitchFamily="18" charset="0"/>
              </a:rPr>
              <a:t>, potassium, and calcium expressed per 1000 kcal across reading frequency groups. Frequent readers demonstrated significantly higher nutrient density for all three nutrients compared to sometimes and rare readers (p &lt; 0.001), indicating superior dietary quality.</a:t>
            </a:r>
          </a:p>
        </p:txBody>
      </p:sp>
      <p:sp>
        <p:nvSpPr>
          <p:cNvPr id="16" name="Title 1">
            <a:extLst>
              <a:ext uri="{FF2B5EF4-FFF2-40B4-BE49-F238E27FC236}">
                <a16:creationId xmlns:a16="http://schemas.microsoft.com/office/drawing/2014/main" id="{8487F4C0-7654-E986-02F5-C1C0C3418BEE}"/>
              </a:ext>
            </a:extLst>
          </p:cNvPr>
          <p:cNvSpPr txBox="1">
            <a:spLocks/>
          </p:cNvSpPr>
          <p:nvPr/>
        </p:nvSpPr>
        <p:spPr>
          <a:xfrm>
            <a:off x="410967" y="87232"/>
            <a:ext cx="8229600" cy="79861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dirty="0">
                <a:solidFill>
                  <a:schemeClr val="tx2"/>
                </a:solidFill>
                <a:latin typeface="Times New Roman" panose="02020603050405020304" pitchFamily="18" charset="0"/>
                <a:cs typeface="Times New Roman" panose="02020603050405020304" pitchFamily="18" charset="0"/>
              </a:rPr>
              <a:t>ENERGY AND FIBRE INTAKE COMPARISON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74D40D-3A2F-0A75-5402-95C2E4C4D5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3747" y="258386"/>
            <a:ext cx="6842680" cy="28775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ED1FFCC3-B267-133F-D7B0-FB8FB0EE075C}"/>
              </a:ext>
            </a:extLst>
          </p:cNvPr>
          <p:cNvPicPr>
            <a:picLocks noChangeAspect="1"/>
          </p:cNvPicPr>
          <p:nvPr/>
        </p:nvPicPr>
        <p:blipFill rotWithShape="1">
          <a:blip r:embed="rId3">
            <a:extLst>
              <a:ext uri="{28A0092B-C50C-407E-A947-70E740481C1C}">
                <a14:useLocalDpi xmlns:a14="http://schemas.microsoft.com/office/drawing/2010/main" val="0"/>
              </a:ext>
            </a:extLst>
          </a:blip>
          <a:srcRect l="1657" t="2170" r="2605"/>
          <a:stretch>
            <a:fillRect/>
          </a:stretch>
        </p:blipFill>
        <p:spPr bwMode="auto">
          <a:xfrm>
            <a:off x="143747" y="3272518"/>
            <a:ext cx="5193765" cy="3472561"/>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FB131303-24F8-B76A-CF6D-18E833834707}"/>
              </a:ext>
            </a:extLst>
          </p:cNvPr>
          <p:cNvSpPr txBox="1"/>
          <p:nvPr/>
        </p:nvSpPr>
        <p:spPr>
          <a:xfrm>
            <a:off x="5470989" y="3658763"/>
            <a:ext cx="3416157" cy="2554545"/>
          </a:xfrm>
          <a:prstGeom prst="rect">
            <a:avLst/>
          </a:prstGeom>
          <a:noFill/>
        </p:spPr>
        <p:txBody>
          <a:bodyPr wrap="square">
            <a:spAutoFit/>
          </a:bodyPr>
          <a:lstStyle/>
          <a:p>
            <a:pPr indent="144145" algn="just" hangingPunct="0">
              <a:buNone/>
            </a:pPr>
            <a:r>
              <a:rPr lang="en-US" sz="1600" dirty="0">
                <a:effectLst/>
                <a:latin typeface="Times New Roman" panose="02020603050405020304" pitchFamily="18" charset="0"/>
                <a:ea typeface="Times New Roman" panose="02020603050405020304" pitchFamily="18" charset="0"/>
              </a:rPr>
              <a:t>Predictive margins of daily </a:t>
            </a:r>
            <a:r>
              <a:rPr lang="en-US" sz="1600" dirty="0" err="1">
                <a:effectLst/>
                <a:latin typeface="Times New Roman" panose="02020603050405020304" pitchFamily="18" charset="0"/>
                <a:ea typeface="Times New Roman" panose="02020603050405020304" pitchFamily="18" charset="0"/>
              </a:rPr>
              <a:t>fibre</a:t>
            </a:r>
            <a:r>
              <a:rPr lang="en-US" sz="1600" dirty="0">
                <a:effectLst/>
                <a:latin typeface="Times New Roman" panose="02020603050405020304" pitchFamily="18" charset="0"/>
                <a:ea typeface="Times New Roman" panose="02020603050405020304" pitchFamily="18" charset="0"/>
              </a:rPr>
              <a:t> intake across age groups stratified by nutrition label reading frequency. Lines represent adjusted mean </a:t>
            </a:r>
            <a:r>
              <a:rPr lang="en-US" sz="1600" dirty="0" err="1">
                <a:effectLst/>
                <a:latin typeface="Times New Roman" panose="02020603050405020304" pitchFamily="18" charset="0"/>
                <a:ea typeface="Times New Roman" panose="02020603050405020304" pitchFamily="18" charset="0"/>
              </a:rPr>
              <a:t>fibre</a:t>
            </a:r>
            <a:r>
              <a:rPr lang="en-US" sz="1600" dirty="0">
                <a:effectLst/>
                <a:latin typeface="Times New Roman" panose="02020603050405020304" pitchFamily="18" charset="0"/>
                <a:ea typeface="Times New Roman" panose="02020603050405020304" pitchFamily="18" charset="0"/>
              </a:rPr>
              <a:t> intake (g/day), and vertical bars indicate 95% confidence intervals. Across all age categories, frequent nutrition label readers consistently exhibited higher predicted </a:t>
            </a:r>
            <a:r>
              <a:rPr lang="en-US" sz="1600" dirty="0" err="1">
                <a:effectLst/>
                <a:latin typeface="Times New Roman" panose="02020603050405020304" pitchFamily="18" charset="0"/>
                <a:ea typeface="Times New Roman" panose="02020603050405020304" pitchFamily="18" charset="0"/>
              </a:rPr>
              <a:t>fibre</a:t>
            </a:r>
            <a:r>
              <a:rPr lang="en-US" sz="1600" dirty="0">
                <a:effectLst/>
                <a:latin typeface="Times New Roman" panose="02020603050405020304" pitchFamily="18" charset="0"/>
                <a:ea typeface="Times New Roman" panose="02020603050405020304" pitchFamily="18" charset="0"/>
              </a:rPr>
              <a:t> intake compared with sometimes and rarely readers.</a:t>
            </a:r>
          </a:p>
        </p:txBody>
      </p:sp>
    </p:spTree>
    <p:extLst>
      <p:ext uri="{BB962C8B-B14F-4D97-AF65-F5344CB8AC3E}">
        <p14:creationId xmlns:p14="http://schemas.microsoft.com/office/powerpoint/2010/main" val="2023761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85851"/>
            <a:ext cx="8229600" cy="4525963"/>
          </a:xfrm>
        </p:spPr>
        <p:txBody>
          <a:bodyPr>
            <a:normAutofit/>
          </a:bodyPr>
          <a:lstStyle/>
          <a:p>
            <a:pPr>
              <a:defRPr sz="2400"/>
            </a:pPr>
            <a:r>
              <a:rPr sz="2000" dirty="0"/>
              <a:t>AI nutrient predictions increased trust, transparency and healthier purchase intent</a:t>
            </a:r>
          </a:p>
          <a:p>
            <a:pPr>
              <a:defRPr sz="2400"/>
            </a:pPr>
            <a:r>
              <a:rPr sz="2000" dirty="0"/>
              <a:t>Biggest impact on users who rarely read nutrition labels</a:t>
            </a:r>
          </a:p>
        </p:txBody>
      </p:sp>
      <p:sp>
        <p:nvSpPr>
          <p:cNvPr id="6" name="Title 1">
            <a:extLst>
              <a:ext uri="{FF2B5EF4-FFF2-40B4-BE49-F238E27FC236}">
                <a16:creationId xmlns:a16="http://schemas.microsoft.com/office/drawing/2014/main" id="{D5C9BC84-FF0C-4523-E5B6-06272D371011}"/>
              </a:ext>
            </a:extLst>
          </p:cNvPr>
          <p:cNvSpPr txBox="1">
            <a:spLocks/>
          </p:cNvSpPr>
          <p:nvPr/>
        </p:nvSpPr>
        <p:spPr>
          <a:xfrm>
            <a:off x="457200" y="87232"/>
            <a:ext cx="8229600" cy="79861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dirty="0">
                <a:solidFill>
                  <a:schemeClr val="tx2"/>
                </a:solidFill>
                <a:latin typeface="Times New Roman" panose="02020603050405020304" pitchFamily="18" charset="0"/>
                <a:cs typeface="Times New Roman" panose="02020603050405020304" pitchFamily="18" charset="0"/>
              </a:rPr>
              <a:t>CONSUMER STUDY</a:t>
            </a:r>
          </a:p>
        </p:txBody>
      </p:sp>
      <p:pic>
        <p:nvPicPr>
          <p:cNvPr id="10" name="Picture 9">
            <a:extLst>
              <a:ext uri="{FF2B5EF4-FFF2-40B4-BE49-F238E27FC236}">
                <a16:creationId xmlns:a16="http://schemas.microsoft.com/office/drawing/2014/main" id="{0A1FEF60-7DDD-EA57-97F6-81559EFF8A1C}"/>
              </a:ext>
            </a:extLst>
          </p:cNvPr>
          <p:cNvPicPr>
            <a:picLocks noChangeAspect="1"/>
          </p:cNvPicPr>
          <p:nvPr/>
        </p:nvPicPr>
        <p:blipFill>
          <a:blip r:embed="rId2"/>
          <a:stretch>
            <a:fillRect/>
          </a:stretch>
        </p:blipFill>
        <p:spPr>
          <a:xfrm>
            <a:off x="766762" y="2247953"/>
            <a:ext cx="7610475" cy="38004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19167"/>
            <a:ext cx="5101118" cy="3067898"/>
          </a:xfrm>
        </p:spPr>
        <p:txBody>
          <a:bodyPr>
            <a:noAutofit/>
          </a:bodyPr>
          <a:lstStyle/>
          <a:p>
            <a:r>
              <a:rPr lang="en-US" sz="1600" dirty="0">
                <a:latin typeface="Arial" panose="020B0604020202020204" pitchFamily="34" charset="0"/>
                <a:cs typeface="Arial" panose="020B0604020202020204" pitchFamily="34" charset="0"/>
              </a:rPr>
              <a:t>AI-generated nutrient predictions improved </a:t>
            </a:r>
            <a:r>
              <a:rPr lang="en-US" sz="1600" b="1" dirty="0">
                <a:latin typeface="Arial" panose="020B0604020202020204" pitchFamily="34" charset="0"/>
                <a:cs typeface="Arial" panose="020B0604020202020204" pitchFamily="34" charset="0"/>
              </a:rPr>
              <a:t>product transparency</a:t>
            </a:r>
            <a:r>
              <a:rPr lang="en-US" sz="1600" dirty="0">
                <a:latin typeface="Arial" panose="020B0604020202020204" pitchFamily="34" charset="0"/>
                <a:cs typeface="Arial" panose="020B0604020202020204" pitchFamily="34" charset="0"/>
              </a:rPr>
              <a:t>.</a:t>
            </a:r>
          </a:p>
          <a:p>
            <a:r>
              <a:rPr lang="en-US" sz="1600" dirty="0">
                <a:latin typeface="Arial" panose="020B0604020202020204" pitchFamily="34" charset="0"/>
                <a:cs typeface="Arial" panose="020B0604020202020204" pitchFamily="34" charset="0"/>
              </a:rPr>
              <a:t>Participants reported </a:t>
            </a:r>
            <a:r>
              <a:rPr lang="en-US" sz="1600" b="1" dirty="0">
                <a:latin typeface="Arial" panose="020B0604020202020204" pitchFamily="34" charset="0"/>
                <a:cs typeface="Arial" panose="020B0604020202020204" pitchFamily="34" charset="0"/>
              </a:rPr>
              <a:t>greater trust</a:t>
            </a:r>
            <a:r>
              <a:rPr lang="en-US" sz="1600" dirty="0">
                <a:latin typeface="Arial" panose="020B0604020202020204" pitchFamily="34" charset="0"/>
                <a:cs typeface="Arial" panose="020B0604020202020204" pitchFamily="34" charset="0"/>
              </a:rPr>
              <a:t> in food products with AI-generated nutritional information.</a:t>
            </a:r>
          </a:p>
          <a:p>
            <a:r>
              <a:rPr lang="en-US" sz="1600" dirty="0">
                <a:latin typeface="Arial" panose="020B0604020202020204" pitchFamily="34" charset="0"/>
                <a:cs typeface="Arial" panose="020B0604020202020204" pitchFamily="34" charset="0"/>
              </a:rPr>
              <a:t>Nutrient predictions positively influenced </a:t>
            </a:r>
            <a:r>
              <a:rPr lang="en-US" sz="1600" b="1" dirty="0">
                <a:latin typeface="Arial" panose="020B0604020202020204" pitchFamily="34" charset="0"/>
                <a:cs typeface="Arial" panose="020B0604020202020204" pitchFamily="34" charset="0"/>
              </a:rPr>
              <a:t>purchase intention</a:t>
            </a:r>
            <a:r>
              <a:rPr lang="en-US" sz="1600" dirty="0">
                <a:latin typeface="Arial" panose="020B0604020202020204" pitchFamily="34" charset="0"/>
                <a:cs typeface="Arial" panose="020B0604020202020204" pitchFamily="34" charset="0"/>
              </a:rPr>
              <a:t>.</a:t>
            </a:r>
          </a:p>
          <a:p>
            <a:r>
              <a:rPr lang="en-US" sz="1600" dirty="0">
                <a:latin typeface="Arial" panose="020B0604020202020204" pitchFamily="34" charset="0"/>
                <a:cs typeface="Arial" panose="020B0604020202020204" pitchFamily="34" charset="0"/>
              </a:rPr>
              <a:t>Consumers who rarely read nutrition labels showed the </a:t>
            </a:r>
            <a:r>
              <a:rPr lang="en-US" sz="1600" b="1" dirty="0">
                <a:latin typeface="Arial" panose="020B0604020202020204" pitchFamily="34" charset="0"/>
                <a:cs typeface="Arial" panose="020B0604020202020204" pitchFamily="34" charset="0"/>
              </a:rPr>
              <a:t>greatest improvement</a:t>
            </a:r>
            <a:r>
              <a:rPr lang="en-US" sz="1600" dirty="0">
                <a:latin typeface="Arial" panose="020B0604020202020204" pitchFamily="34" charset="0"/>
                <a:cs typeface="Arial" panose="020B0604020202020204" pitchFamily="34" charset="0"/>
              </a:rPr>
              <a:t> in decision-making.</a:t>
            </a:r>
          </a:p>
          <a:p>
            <a:r>
              <a:rPr lang="en-US" sz="1600" dirty="0">
                <a:latin typeface="Arial" panose="020B0604020202020204" pitchFamily="34" charset="0"/>
                <a:cs typeface="Arial" panose="020B0604020202020204" pitchFamily="34" charset="0"/>
              </a:rPr>
              <a:t>AI-based nutrition information can effectively complement traditional nutrition labels.</a:t>
            </a:r>
          </a:p>
        </p:txBody>
      </p:sp>
      <p:sp>
        <p:nvSpPr>
          <p:cNvPr id="6" name="Title 1">
            <a:extLst>
              <a:ext uri="{FF2B5EF4-FFF2-40B4-BE49-F238E27FC236}">
                <a16:creationId xmlns:a16="http://schemas.microsoft.com/office/drawing/2014/main" id="{AE513D2A-1BA8-206D-81AF-6CE46FEA0D0C}"/>
              </a:ext>
            </a:extLst>
          </p:cNvPr>
          <p:cNvSpPr txBox="1">
            <a:spLocks/>
          </p:cNvSpPr>
          <p:nvPr/>
        </p:nvSpPr>
        <p:spPr>
          <a:xfrm>
            <a:off x="457200" y="87232"/>
            <a:ext cx="8229600" cy="79861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dirty="0">
                <a:solidFill>
                  <a:schemeClr val="tx2"/>
                </a:solidFill>
                <a:latin typeface="Times New Roman" panose="02020603050405020304" pitchFamily="18" charset="0"/>
                <a:cs typeface="Times New Roman" panose="02020603050405020304" pitchFamily="18" charset="0"/>
              </a:rPr>
              <a:t>CONCLUSION</a:t>
            </a:r>
          </a:p>
        </p:txBody>
      </p:sp>
      <p:graphicFrame>
        <p:nvGraphicFramePr>
          <p:cNvPr id="18" name="Diagram 17">
            <a:extLst>
              <a:ext uri="{FF2B5EF4-FFF2-40B4-BE49-F238E27FC236}">
                <a16:creationId xmlns:a16="http://schemas.microsoft.com/office/drawing/2014/main" id="{D4D8E018-3A71-56AC-A5FB-07538DEC51F6}"/>
              </a:ext>
            </a:extLst>
          </p:cNvPr>
          <p:cNvGraphicFramePr/>
          <p:nvPr>
            <p:extLst>
              <p:ext uri="{D42A27DB-BD31-4B8C-83A1-F6EECF244321}">
                <p14:modId xmlns:p14="http://schemas.microsoft.com/office/powerpoint/2010/main" val="1377076947"/>
              </p:ext>
            </p:extLst>
          </p:nvPr>
        </p:nvGraphicFramePr>
        <p:xfrm>
          <a:off x="3988085" y="638996"/>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Rectangle 18">
            <a:extLst>
              <a:ext uri="{FF2B5EF4-FFF2-40B4-BE49-F238E27FC236}">
                <a16:creationId xmlns:a16="http://schemas.microsoft.com/office/drawing/2014/main" id="{67375A0D-84D9-6425-50BF-24ECCA3CC39D}"/>
              </a:ext>
            </a:extLst>
          </p:cNvPr>
          <p:cNvSpPr/>
          <p:nvPr/>
        </p:nvSpPr>
        <p:spPr>
          <a:xfrm>
            <a:off x="1628527" y="5572673"/>
            <a:ext cx="6220930" cy="646331"/>
          </a:xfrm>
          <a:prstGeom prst="rect">
            <a:avLst/>
          </a:prstGeom>
          <a:noFill/>
          <a:ln>
            <a:solidFill>
              <a:schemeClr val="accent5">
                <a:lumMod val="50000"/>
              </a:schemeClr>
            </a:solidFill>
          </a:ln>
        </p:spPr>
        <p:txBody>
          <a:bodyPr wrap="square" lIns="91440" tIns="45720" rIns="91440" bIns="45720">
            <a:spAutoFit/>
          </a:bodyPr>
          <a:lstStyle/>
          <a:p>
            <a:pPr algn="ctr"/>
            <a:r>
              <a:rPr lang="en-US" i="1" dirty="0">
                <a:ln w="0"/>
                <a:solidFill>
                  <a:schemeClr val="accent1"/>
                </a:solidFill>
                <a:effectLst>
                  <a:outerShdw blurRad="38100" dist="25400" dir="5400000" algn="ctr" rotWithShape="0">
                    <a:srgbClr val="6E747A">
                      <a:alpha val="43000"/>
                    </a:srgbClr>
                  </a:outerShdw>
                </a:effectLst>
              </a:rPr>
              <a:t>AI-generated nutritional information encourages healthier and more informed food choices.</a:t>
            </a:r>
            <a:endParaRPr lang="en-US" sz="540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0215" y="2532579"/>
            <a:ext cx="8229600" cy="1143000"/>
          </a:xfrm>
        </p:spPr>
        <p:txBody>
          <a:bodyPr/>
          <a:lstStyle/>
          <a:p>
            <a:r>
              <a:rPr lang="en-US" dirty="0">
                <a:ln>
                  <a:solidFill>
                    <a:schemeClr val="accent5">
                      <a:lumMod val="20000"/>
                      <a:lumOff val="80000"/>
                    </a:schemeClr>
                  </a:solidFill>
                </a:ln>
                <a:latin typeface="Times New Roman" panose="02020603050405020304" pitchFamily="18" charset="0"/>
                <a:cs typeface="Times New Roman" panose="02020603050405020304" pitchFamily="18" charset="0"/>
              </a:rPr>
              <a:t>THANK YOU</a:t>
            </a:r>
            <a:endParaRPr dirty="0">
              <a:ln>
                <a:solidFill>
                  <a:schemeClr val="accent5">
                    <a:lumMod val="20000"/>
                    <a:lumOff val="80000"/>
                  </a:schemeClr>
                </a:solidFill>
              </a:ln>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106</TotalTime>
  <Words>423</Words>
  <Application>Microsoft Office PowerPoint</Application>
  <PresentationFormat>On-screen Show (4:3)</PresentationFormat>
  <Paragraphs>96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AI-Driven Nutrient Prediction for Healthier Food Choices</vt:lpstr>
      <vt:lpstr>PowerPoint Presentation</vt:lpstr>
      <vt:lpstr>PIPELINE</vt:lpstr>
      <vt:lpstr>PowerPoint Presentation</vt:lpstr>
      <vt:lpstr>PowerPoint Presentation</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Gargi Ghosh</cp:lastModifiedBy>
  <cp:revision>2</cp:revision>
  <dcterms:created xsi:type="dcterms:W3CDTF">2013-01-27T09:14:16Z</dcterms:created>
  <dcterms:modified xsi:type="dcterms:W3CDTF">2026-07-14T15:11:50Z</dcterms:modified>
  <cp:category/>
</cp:coreProperties>
</file>